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32fc755f9547e8" /><Relationship Type="http://schemas.openxmlformats.org/officeDocument/2006/relationships/extended-properties" Target="/docProps/app.xml" Id="Rc86c322dd20f400f" /><Relationship Type="http://schemas.openxmlformats.org/officeDocument/2006/relationships/officeDocument" Target="/ppt/presentation.xml" Id="R152fecc847cd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246be7265f4087"/>
  </p:sldMasterIdLst>
  <p:notesMasterIdLst>
    <p:notesMasterId xmlns:r="http://schemas.openxmlformats.org/officeDocument/2006/relationships" r:id="R96eb7d3ab3864e75"/>
  </p:notesMasterIdLst>
  <p:sldIdLst>
    <p:sldId xmlns:r="http://schemas.openxmlformats.org/officeDocument/2006/relationships" id="256" r:id="R88a56826aa5c4685"/>
    <p:sldId xmlns:r="http://schemas.openxmlformats.org/officeDocument/2006/relationships" id="257" r:id="Rab117f105ddd44e0"/>
    <p:sldId xmlns:r="http://schemas.openxmlformats.org/officeDocument/2006/relationships" id="258" r:id="R4d1cc6e715de4ccb"/>
    <p:sldId xmlns:r="http://schemas.openxmlformats.org/officeDocument/2006/relationships" id="259" r:id="R257f3142eba440f4"/>
    <p:sldId xmlns:r="http://schemas.openxmlformats.org/officeDocument/2006/relationships" id="260" r:id="R77505131868a44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66c17116d47f5" /><Relationship Type="http://schemas.openxmlformats.org/officeDocument/2006/relationships/slideMaster" Target="/ppt/slideMasters/slideMaster1.xml" Id="R38246be7265f4087" /><Relationship Type="http://schemas.openxmlformats.org/officeDocument/2006/relationships/notesMaster" Target="/ppt/notesMasters/notesMaster1.xml" Id="R96eb7d3ab3864e75" /><Relationship Type="http://schemas.openxmlformats.org/officeDocument/2006/relationships/presProps" Target="/ppt/presProps.xml" Id="R5ae7a36462044730" /><Relationship Type="http://schemas.openxmlformats.org/officeDocument/2006/relationships/tableStyles" Target="/ppt/tableStyles.xml" Id="R6de58b85c9274a7a" /><Relationship Type="http://schemas.openxmlformats.org/officeDocument/2006/relationships/slide" Target="/ppt/slides/slide1.xml" Id="R88a56826aa5c4685" /><Relationship Type="http://schemas.openxmlformats.org/officeDocument/2006/relationships/slide" Target="/ppt/slides/slide2.xml" Id="Rab117f105ddd44e0" /><Relationship Type="http://schemas.openxmlformats.org/officeDocument/2006/relationships/slide" Target="/ppt/slides/slide3.xml" Id="R4d1cc6e715de4ccb" /><Relationship Type="http://schemas.openxmlformats.org/officeDocument/2006/relationships/slide" Target="/ppt/slides/slide4.xml" Id="R257f3142eba440f4" /><Relationship Type="http://schemas.openxmlformats.org/officeDocument/2006/relationships/slide" Target="/ppt/slides/slide5.xml" Id="R77505131868a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6b024abb6347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9d6c6d9dde4d15" /><Relationship Type="http://schemas.openxmlformats.org/officeDocument/2006/relationships/notesMaster" Target="/ppt/notesMasters/notesMaster1.xml" Id="Rd6fe69d40f2649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87620d475941dc" /><Relationship Type="http://schemas.openxmlformats.org/officeDocument/2006/relationships/notesMaster" Target="/ppt/notesMasters/notesMaster1.xml" Id="Ra32ef3ec19d545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72fc5c27104923" /><Relationship Type="http://schemas.openxmlformats.org/officeDocument/2006/relationships/notesMaster" Target="/ppt/notesMasters/notesMaster1.xml" Id="R7076673dc6834d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213603a21549d1" /><Relationship Type="http://schemas.openxmlformats.org/officeDocument/2006/relationships/notesMaster" Target="/ppt/notesMasters/notesMaster1.xml" Id="Ra501e979d5b84a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dd5b8c88164424" /><Relationship Type="http://schemas.openxmlformats.org/officeDocument/2006/relationships/notesMaster" Target="/ppt/notesMasters/notesMaster1.xml" Id="R0360788e4065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https://github.com/vAPI-Network/vapi-arc</a:t>
            </a:r>
          </a:p>
          <a:p xmlns:a="http://schemas.openxmlformats.org/drawingml/2006/main">
            <a:r>
              <a:t>- https://github.com/vAPI-Network/vapi-arc/blob/main/docs/specs/2026-07-28-paid-human-review-exchange.md</a:t>
            </a:r>
          </a:p>
          <a:p xmlns:a="http://schemas.openxmlformats.org/drawingml/2006/main">
            <a:r>
              <a:t>- vAPI wordmark from the vAPI Hairline brand kit in the local vapi-app repository.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https://github.com/vAPI-Network/vapi-arc/blob/main/contracts/src/EvaluationRouter.sol</a:t>
            </a:r>
          </a:p>
          <a:p xmlns:a="http://schemas.openxmlformats.org/drawingml/2006/main">
            <a:r>
              <a:t>- https://github.com/vAPI-Network/vapi-arc/blob/main/core/README.md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https://developers.circle.com/gateway/nanopayments/quickstarts/seller</a:t>
            </a:r>
          </a:p>
          <a:p xmlns:a="http://schemas.openxmlformats.org/drawingml/2006/main">
            <a:r>
              <a:t>- https://github.com/vAPI-Network/vapi-arc/blob/main/docs/specs/2026-07-28-paid-human-review-exchange.md</a:t>
            </a:r>
          </a:p>
          <a:p xmlns:a="http://schemas.openxmlformats.org/drawingml/2006/main">
            <a:r>
              <a:t>- https://github.com/vAPI-Network/vapi-arc/blob/main/contracts/src/EvaluationRouter.sol</a:t>
            </a:r>
          </a:p>
          <a:p xmlns:a="http://schemas.openxmlformats.org/drawingml/2006/main">
            <a:r>
              <a:t>- Telegram QR generated from https://t.me/vAPITrustCouncilBot.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https://testnet.arcscan.app/address/0x44A51C365eB3eC703534ebb56394E7015930533D</a:t>
            </a:r>
          </a:p>
          <a:p xmlns:a="http://schemas.openxmlformats.org/drawingml/2006/main">
            <a:r>
              <a:t>- https://testnet.arcscan.app/address/0x0747EEf0706327138c69792bF28Cd525089e4583</a:t>
            </a:r>
          </a:p>
          <a:p xmlns:a="http://schemas.openxmlformats.org/drawingml/2006/main">
            <a:r>
              <a:t>- https://github.com/vAPI-Network/vapi-arc/blob/main/README.md</a:t>
            </a:r>
          </a:p>
          <a:p xmlns:a="http://schemas.openxmlformats.org/drawingml/2006/main">
            <a:r>
              <a:t>- https://github.com/vAPI-Network/vapi-arc/blob/main/contracts/test/EvaluationRouter.t.sol</a:t>
            </a:r>
          </a:p>
          <a:p xmlns:a="http://schemas.openxmlformats.org/drawingml/2006/main">
            <a:r>
              <a:t>- https://github.com/vAPI-Network/vapi-arc/tree/main/core/src</a:t>
            </a:r>
          </a:p>
          <a:p xmlns:a="http://schemas.openxmlformats.org/drawingml/2006/main">
            <a:r>
              <a:t>- https://github.com/vAPI-Network/vapi-arc/tree/main/app/tests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https://github.com/vAPI-Network/vapi-arc/blob/main/README.md</a:t>
            </a:r>
          </a:p>
          <a:p xmlns:a="http://schemas.openxmlformats.org/drawingml/2006/main">
            <a:r>
              <a:t>- https://vapi-web-production.up.railway.app</a:t>
            </a:r>
          </a:p>
          <a:p xmlns:a="http://schemas.openxmlformats.org/drawingml/2006/main">
            <a:r>
              <a:t>- https://github.com/vAPI-Network/vapi-arc/blob/main/docs/deployment/railway.md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c06313fa2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d1db119def47d6" /><Relationship Type="http://schemas.openxmlformats.org/officeDocument/2006/relationships/slideLayout" Target="/ppt/slideLayouts/slideLayout1.xml" Id="Rb53bfe96becb4d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3bfe96becb4d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706fd01bb46e5" /><Relationship Type="http://schemas.openxmlformats.org/officeDocument/2006/relationships/image" Target="/ppt/media/image.png" Id="Rb82c735e74b8434c" /><Relationship Type="http://schemas.openxmlformats.org/officeDocument/2006/relationships/notesSlide" Target="/ppt/notesSlides/notesSlide1.xml" Id="Rb54611c6787944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dd7282b204834" /><Relationship Type="http://schemas.openxmlformats.org/officeDocument/2006/relationships/notesSlide" Target="/ppt/notesSlides/notesSlide2.xml" Id="R0bea145491de47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ec8a13e2149e9" /><Relationship Type="http://schemas.openxmlformats.org/officeDocument/2006/relationships/image" Target="/ppt/media/image2.png" Id="Rca425ae4ded84cca" /><Relationship Type="http://schemas.openxmlformats.org/officeDocument/2006/relationships/notesSlide" Target="/ppt/notesSlides/notesSlide3.xml" Id="Ra7838c2b9a984f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115eb928d4d26" /><Relationship Type="http://schemas.openxmlformats.org/officeDocument/2006/relationships/notesSlide" Target="/ppt/notesSlides/notesSlide4.xml" Id="R6cb839afe1e3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8ab917dfd46e7" /><Relationship Type="http://schemas.openxmlformats.org/officeDocument/2006/relationships/notesSlide" Target="/ppt/notesSlides/notesSlide5.xml" Id="Rd5739629fcf846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c735e74b8434c"/>
          <a:stretch xmlns:a="http://schemas.openxmlformats.org/drawingml/2006/main"/>
        </p:blipFill>
        <p:spPr>
          <a:xfrm xmlns:a="http://schemas.openxmlformats.org/drawingml/2006/main">
            <a:off x="685800" y="489329"/>
            <a:ext cx="1428750" cy="46914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527B5-9FBD-4F01-AC6E-E0899B9C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88900-9B08-48ED-AD61-848C14CA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035D2C78-1E41-4787-8515-7FC62A2B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510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vAPI Trust Network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9D29C4C-F4D6-4A7B-A0AF-8CCE85BD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Paid human review for ERC-8183 jobs on Arc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DABCD-4FD2-4974-B7C0-B1E8609D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581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2C95F-6D27-473F-9FC4-8914EB62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81475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A5324-FA0E-475B-866D-D044EAA5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8147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ck-meta">
            <a:extLst xmlns:a="http://schemas.openxmlformats.org/drawingml/2006/main">
              <a:ext uri="{FF2B5EF4-FFF2-40B4-BE49-F238E27FC236}">
                <a16:creationId xmlns:a16="http://schemas.microsoft.com/office/drawing/2014/main" id="{FB453A9A-194A-4B3E-A970-F19B399D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Agentic Economy · Mark T · Checkpoint 2</a:t>
            </a:r>
          </a:p>
        </p:txBody>
      </p:sp>
      <p:sp>
        <p:nvSpPr>
          <p:cNvPr id="10" name="deck-date">
            <a:extLst xmlns:a="http://schemas.openxmlformats.org/drawingml/2006/main">
              <a:ext uri="{FF2B5EF4-FFF2-40B4-BE49-F238E27FC236}">
                <a16:creationId xmlns:a16="http://schemas.microsoft.com/office/drawing/2014/main" id="{AC0236A1-E634-4869-AA4A-2D8C8BD1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154482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2">
            <a:extLst xmlns:a="http://schemas.openxmlformats.org/drawingml/2006/main">
              <a:ext uri="{FF2B5EF4-FFF2-40B4-BE49-F238E27FC236}">
                <a16:creationId xmlns:a16="http://schemas.microsoft.com/office/drawing/2014/main" id="{BFCB4027-78B2-4B3D-AB56-323207F8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vAPI Trust Network  ·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2A251-D2B9-4270-96BF-DDCA0500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1F9CB-DB08-4F9A-A0B1-42916417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0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9AFCFA-79F7-4B3A-8D83-D3EDB0BD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Each job uses AI review or waits for a human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0BFBE-A249-4EEF-A772-DBCCD461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7413A-5879-423A-AB32-559CA79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62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C59F1-C3BF-4308-9EFA-565FCC8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857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36D7B-0C2F-4FD8-A8E5-54921926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BF557-CE2F-4594-9CD4-56B7101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022D3-508F-448E-AC75-D127397E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AC622-BAB6-45AD-9CC3-9A304EA0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DDDA3-05C6-432D-A293-E841CA03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81250"/>
            <a:ext cx="2857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F83D7-5C72-4845-812A-01CEC87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14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CE692-B8E3-4B02-BC33-E88F57E2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14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97BF275E-C6E4-4BC5-B69F-5920D3E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90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60281-C3FE-434B-99EA-350B4CB1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ode-0-label">
            <a:extLst xmlns:a="http://schemas.openxmlformats.org/drawingml/2006/main">
              <a:ext uri="{FF2B5EF4-FFF2-40B4-BE49-F238E27FC236}">
                <a16:creationId xmlns:a16="http://schemas.microsoft.com/office/drawing/2014/main" id="{357634EC-832F-44BA-8167-FA9C494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Agent funds job</a:t>
            </a:r>
          </a:p>
        </p:txBody>
      </p:sp>
      <p:sp>
        <p:nvSpPr>
          <p:cNvPr id="18" name="flow-node-0-detail">
            <a:extLst xmlns:a="http://schemas.openxmlformats.org/drawingml/2006/main">
              <a:ext uri="{FF2B5EF4-FFF2-40B4-BE49-F238E27FC236}">
                <a16:creationId xmlns:a16="http://schemas.microsoft.com/office/drawing/2014/main" id="{E705C78F-EF46-47C2-BA47-4E0272B1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USDC enters the ERC-8183 escrow.</a:t>
            </a:r>
          </a:p>
        </p:txBody>
      </p:sp>
      <p:sp>
        <p:nvSpPr>
          <p:cNvPr id="19" name="flow-node-1">
            <a:extLst xmlns:a="http://schemas.openxmlformats.org/drawingml/2006/main">
              <a:ext uri="{FF2B5EF4-FFF2-40B4-BE49-F238E27FC236}">
                <a16:creationId xmlns:a16="http://schemas.microsoft.com/office/drawing/2014/main" id="{1CD29A86-CACC-4C19-ADA2-E2E3E605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AE274-870D-45F3-9D29-AD61D08E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node-1-label">
            <a:extLst xmlns:a="http://schemas.openxmlformats.org/drawingml/2006/main">
              <a:ext uri="{FF2B5EF4-FFF2-40B4-BE49-F238E27FC236}">
                <a16:creationId xmlns:a16="http://schemas.microsoft.com/office/drawing/2014/main" id="{DA79C6CF-CFF2-4B74-A776-ACB74A4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575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Provider submits</a:t>
            </a:r>
          </a:p>
        </p:txBody>
      </p:sp>
      <p:sp>
        <p:nvSpPr>
          <p:cNvPr id="22" name="flow-node-1-detail">
            <a:extLst xmlns:a="http://schemas.openxmlformats.org/drawingml/2006/main">
              <a:ext uri="{FF2B5EF4-FFF2-40B4-BE49-F238E27FC236}">
                <a16:creationId xmlns:a16="http://schemas.microsoft.com/office/drawing/2014/main" id="{5D283EFA-ADAC-4AED-A32C-9C2C4CF8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04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Arc stores the deliverable commitment.</a:t>
            </a:r>
          </a:p>
        </p:txBody>
      </p:sp>
      <p:sp>
        <p:nvSpPr>
          <p:cNvPr id="2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4E34DDE6-8DDD-40D6-9E0E-A939A9EB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BEA3D-FF8D-4FAD-8A7B-2F4AF68A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node-2-label">
            <a:extLst xmlns:a="http://schemas.openxmlformats.org/drawingml/2006/main">
              <a:ext uri="{FF2B5EF4-FFF2-40B4-BE49-F238E27FC236}">
                <a16:creationId xmlns:a16="http://schemas.microsoft.com/office/drawing/2014/main" id="{91396DC4-DD55-4F7C-A62F-7C66C800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AIAllowed</a:t>
            </a:r>
          </a:p>
        </p:txBody>
      </p:sp>
      <p:sp>
        <p:nvSpPr>
          <p:cNvPr id="26" name="flow-node-2-detail">
            <a:extLst xmlns:a="http://schemas.openxmlformats.org/drawingml/2006/main">
              <a:ext uri="{FF2B5EF4-FFF2-40B4-BE49-F238E27FC236}">
                <a16:creationId xmlns:a16="http://schemas.microsoft.com/office/drawing/2014/main" id="{C417D9C2-1E4B-4571-BACD-36149851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Deterministic checks validate the model verdict.</a:t>
            </a:r>
          </a:p>
        </p:txBody>
      </p:sp>
      <p:sp>
        <p:nvSpPr>
          <p:cNvPr id="27" name="flow-node-3">
            <a:extLst xmlns:a="http://schemas.openxmlformats.org/drawingml/2006/main">
              <a:ext uri="{FF2B5EF4-FFF2-40B4-BE49-F238E27FC236}">
                <a16:creationId xmlns:a16="http://schemas.microsoft.com/office/drawing/2014/main" id="{FCE91AC4-5270-49FB-9BDA-B3783427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76848-2687-471E-808A-696BE6ED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low-node-3-label">
            <a:extLst xmlns:a="http://schemas.openxmlformats.org/drawingml/2006/main">
              <a:ext uri="{FF2B5EF4-FFF2-40B4-BE49-F238E27FC236}">
                <a16:creationId xmlns:a16="http://schemas.microsoft.com/office/drawing/2014/main" id="{C0BA09AF-86FE-4BCD-A91F-2720D2F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195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Human review</a:t>
            </a:r>
          </a:p>
        </p:txBody>
      </p:sp>
      <p:sp>
        <p:nvSpPr>
          <p:cNvPr id="30" name="flow-node-3-detail">
            <a:extLst xmlns:a="http://schemas.openxmlformats.org/drawingml/2006/main">
              <a:ext uri="{FF2B5EF4-FFF2-40B4-BE49-F238E27FC236}">
                <a16:creationId xmlns:a16="http://schemas.microsoft.com/office/drawing/2014/main" id="{429423F0-3ADE-4178-91A8-0895527B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HumanOnly and escalated jobs wait for a reviewer.</a:t>
            </a:r>
          </a:p>
        </p:txBody>
      </p:sp>
      <p:sp>
        <p:nvSpPr>
          <p:cNvPr id="3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DF10C7DB-1DB8-472C-89D1-EE5B07ED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61A4C8-AAF5-4DAE-928A-2C7FF8FC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low-node-4-label">
            <a:extLst xmlns:a="http://schemas.openxmlformats.org/drawingml/2006/main">
              <a:ext uri="{FF2B5EF4-FFF2-40B4-BE49-F238E27FC236}">
                <a16:creationId xmlns:a16="http://schemas.microsoft.com/office/drawing/2014/main" id="{79ED33A6-6FFC-4891-A2C1-51056015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7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Original escrow settles</a:t>
            </a:r>
          </a:p>
        </p:txBody>
      </p:sp>
      <p:sp>
        <p:nvSpPr>
          <p:cNvPr id="34" name="flow-node-4-detail">
            <a:extLst xmlns:a="http://schemas.openxmlformats.org/drawingml/2006/main">
              <a:ext uri="{FF2B5EF4-FFF2-40B4-BE49-F238E27FC236}">
                <a16:creationId xmlns:a16="http://schemas.microsoft.com/office/drawing/2014/main" id="{B8C229AC-40EC-498F-88EA-27196189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The job completes or rejects on Arc.</a:t>
            </a:r>
          </a:p>
        </p:txBody>
      </p:sp>
      <p:sp>
        <p:nvSpPr>
          <p:cNvPr id="35" name="key-note">
            <a:extLst xmlns:a="http://schemas.openxmlformats.org/drawingml/2006/main">
              <a:ext uri="{FF2B5EF4-FFF2-40B4-BE49-F238E27FC236}">
                <a16:creationId xmlns:a16="http://schemas.microsoft.com/office/drawing/2014/main" id="{0F3C3020-1557-4A9C-BC20-3D8E1A6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687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F921CB-675F-44CF-A069-AC08D6D8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key-note-text">
            <a:extLst xmlns:a="http://schemas.openxmlformats.org/drawingml/2006/main">
              <a:ext uri="{FF2B5EF4-FFF2-40B4-BE49-F238E27FC236}">
                <a16:creationId xmlns:a16="http://schemas.microsoft.com/office/drawing/2014/main" id="{76E4ABA6-1C79-4633-A5D6-595B8F9E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149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The model never holds a signing key. Code checks its response before the restricted oracle submits a transaction.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9AE5D9-3D9E-446E-8C6A-B1572D60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D3DBAD-C492-4591-B405-3466F3D1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Circle Arc Hackathon · Checkpoint 2</a:t>
            </a:r>
          </a:p>
        </p:txBody>
      </p:sp>
      <p:sp>
        <p:nvSpPr>
          <p:cNvPr id="4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0417778-3357-4424-9AC8-AADD3E9C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674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Agentic Economy</a:t>
            </a:r>
          </a:p>
        </p:txBody>
      </p:sp>
    </p:spTree>
    <p:extLst>
      <p:ext uri="{BB962C8B-B14F-4D97-AF65-F5344CB8AC3E}">
        <p14:creationId xmlns:p14="http://schemas.microsoft.com/office/powerpoint/2010/main" val="1039403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3">
            <a:extLst xmlns:a="http://schemas.openxmlformats.org/drawingml/2006/main">
              <a:ext uri="{FF2B5EF4-FFF2-40B4-BE49-F238E27FC236}">
                <a16:creationId xmlns:a16="http://schemas.microsoft.com/office/drawing/2014/main" id="{0EBC983A-4B75-4EC4-B17C-8956FDA7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vAPI Trust Network  ·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7B5F1-C62C-4A98-A6AD-BC56085C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3FD1C-34E0-430F-9211-BE5285D0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0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01851D-140F-40F0-AEA4-9EA2304E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A review costs 0.25 USDC. The auditor earns 0.20.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34FEC-7D7B-459D-99CD-13A7A8DE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81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7915C-C220-4A6A-95DE-56AB0590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view-step-0-label">
            <a:extLst xmlns:a="http://schemas.openxmlformats.org/drawingml/2006/main">
              <a:ext uri="{FF2B5EF4-FFF2-40B4-BE49-F238E27FC236}">
                <a16:creationId xmlns:a16="http://schemas.microsoft.com/office/drawing/2014/main" id="{552D648A-CBD6-4C17-B4BE-FD585385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193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Circle Gateway accepts the x402 payment</a:t>
            </a:r>
          </a:p>
        </p:txBody>
      </p:sp>
      <p:sp>
        <p:nvSpPr>
          <p:cNvPr id="8" name="review-step-0-detail">
            <a:extLst xmlns:a="http://schemas.openxmlformats.org/drawingml/2006/main">
              <a:ext uri="{FF2B5EF4-FFF2-40B4-BE49-F238E27FC236}">
                <a16:creationId xmlns:a16="http://schemas.microsoft.com/office/drawing/2014/main" id="{BA836001-164B-488D-9C88-C4C924CA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The review order is stored before dispatch.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90231-FBE6-449A-9C53-10F68E0F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view-step-1-label">
            <a:extLst xmlns:a="http://schemas.openxmlformats.org/drawingml/2006/main">
              <a:ext uri="{FF2B5EF4-FFF2-40B4-BE49-F238E27FC236}">
                <a16:creationId xmlns:a16="http://schemas.microsoft.com/office/drawing/2014/main" id="{C8BE5713-D479-4528-BA83-EA7FC3CE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Telegram sends the job to allowlisted auditors</a:t>
            </a:r>
          </a:p>
        </p:txBody>
      </p:sp>
      <p:sp>
        <p:nvSpPr>
          <p:cNvPr id="11" name="review-step-1-detail">
            <a:extLst xmlns:a="http://schemas.openxmlformats.org/drawingml/2006/main">
              <a:ext uri="{FF2B5EF4-FFF2-40B4-BE49-F238E27FC236}">
                <a16:creationId xmlns:a16="http://schemas.microsoft.com/office/drawing/2014/main" id="{00F5BF43-CB89-4B39-ABDE-095668D5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The first eligible auditor can claim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D7113-AA53-45DB-85CC-31A53975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iew-step-2-label">
            <a:extLst xmlns:a="http://schemas.openxmlformats.org/drawingml/2006/main">
              <a:ext uri="{FF2B5EF4-FFF2-40B4-BE49-F238E27FC236}">
                <a16:creationId xmlns:a16="http://schemas.microsoft.com/office/drawing/2014/main" id="{D8868346-51DF-445A-A3AB-867BE7AE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The auditor chooses approve or reject</a:t>
            </a:r>
          </a:p>
        </p:txBody>
      </p:sp>
      <p:sp>
        <p:nvSpPr>
          <p:cNvPr id="14" name="review-step-2-detail">
            <a:extLst xmlns:a="http://schemas.openxmlformats.org/drawingml/2006/main">
              <a:ext uri="{FF2B5EF4-FFF2-40B4-BE49-F238E27FC236}">
                <a16:creationId xmlns:a16="http://schemas.microsoft.com/office/drawing/2014/main" id="{DE48A94A-7D8D-4D2E-9E71-127B3E70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A written reason is required.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12091-0E31-4215-AA83-C559CC81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view-step-3-label">
            <a:extLst xmlns:a="http://schemas.openxmlformats.org/drawingml/2006/main">
              <a:ext uri="{FF2B5EF4-FFF2-40B4-BE49-F238E27FC236}">
                <a16:creationId xmlns:a16="http://schemas.microsoft.com/office/drawing/2014/main" id="{272D5792-ACD2-4605-B3FB-9FFA70C1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Circle Wallet pays the auditor and calls humanResolve</a:t>
            </a:r>
          </a:p>
        </p:txBody>
      </p:sp>
      <p:sp>
        <p:nvSpPr>
          <p:cNvPr id="17" name="review-step-3-detail">
            <a:extLst xmlns:a="http://schemas.openxmlformats.org/drawingml/2006/main">
              <a:ext uri="{FF2B5EF4-FFF2-40B4-BE49-F238E27FC236}">
                <a16:creationId xmlns:a16="http://schemas.microsoft.com/office/drawing/2014/main" id="{A5A037A4-07D9-4FA3-BF0D-A0FAC55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Arc records the reviewer, reward, evidence hash and payout transaction.</a:t>
            </a:r>
          </a:p>
        </p:txBody>
      </p:sp>
      <p:sp>
        <p:nvSpPr>
          <p:cNvPr id="18" name="telegram-panel">
            <a:extLst xmlns:a="http://schemas.openxmlformats.org/drawingml/2006/main">
              <a:ext uri="{FF2B5EF4-FFF2-40B4-BE49-F238E27FC236}">
                <a16:creationId xmlns:a16="http://schemas.microsoft.com/office/drawing/2014/main" id="{D346DED7-EB47-4986-9B32-3F01E0A5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857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61277-ACC2-41A6-BE4A-260F855B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legram-title">
            <a:extLst xmlns:a="http://schemas.openxmlformats.org/drawingml/2006/main">
              <a:ext uri="{FF2B5EF4-FFF2-40B4-BE49-F238E27FC236}">
                <a16:creationId xmlns:a16="http://schemas.microsoft.com/office/drawing/2014/main" id="{65D8716E-08A8-4F4E-A95A-B4E32950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Claim in Telegram</a:t>
            </a:r>
          </a:p>
        </p:txBody>
      </p:sp>
      <p:sp>
        <p:nvSpPr>
          <p:cNvPr id="21" name="telegram-copy">
            <a:extLst xmlns:a="http://schemas.openxmlformats.org/drawingml/2006/main">
              <a:ext uri="{FF2B5EF4-FFF2-40B4-BE49-F238E27FC236}">
                <a16:creationId xmlns:a16="http://schemas.microsoft.com/office/drawing/2014/main" id="{DEEC4B9F-42A0-4535-ADF8-7C3F915B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Claim the review, select a decision, then reply with a reason.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25ae4ded84cca"/>
          <a:stretch xmlns:a="http://schemas.openxmlformats.org/drawingml/2006/main"/>
        </p:blipFill>
        <p:spPr>
          <a:xfrm xmlns:a="http://schemas.openxmlformats.org/drawingml/2006/main">
            <a:off x="9163050" y="35052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3" name="reward-note">
            <a:extLst xmlns:a="http://schemas.openxmlformats.org/drawingml/2006/main">
              <a:ext uri="{FF2B5EF4-FFF2-40B4-BE49-F238E27FC236}">
                <a16:creationId xmlns:a16="http://schemas.microsoft.com/office/drawing/2014/main" id="{6245AFB8-0DAC-4A60-916E-A4E4793D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578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FF3D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C3FF3D"/>
                </a:solidFill>
                <a:latin typeface="Space Grotesk"/>
                <a:ea typeface="Space Grotesk"/>
                <a:cs typeface="Space Grotesk"/>
              </a:rPr>
              <a:t>Approve and reject pay the same reviewer reward.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2B4A9-6C03-450B-9107-66469BE4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D0F242E-2FD9-4B75-9F70-EEB03C1E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Circle Arc Hackathon · Checkpoint 2</a:t>
            </a:r>
          </a:p>
        </p:txBody>
      </p:sp>
      <p:sp>
        <p:nvSpPr>
          <p:cNvPr id="2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93FE59-C08A-4004-893D-E96FD5F7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674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Agentic Economy</a:t>
            </a:r>
          </a:p>
        </p:txBody>
      </p:sp>
    </p:spTree>
    <p:extLst>
      <p:ext uri="{BB962C8B-B14F-4D97-AF65-F5344CB8AC3E}">
        <p14:creationId xmlns:p14="http://schemas.microsoft.com/office/powerpoint/2010/main" val="1274702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4">
            <a:extLst xmlns:a="http://schemas.openxmlformats.org/drawingml/2006/main">
              <a:ext uri="{FF2B5EF4-FFF2-40B4-BE49-F238E27FC236}">
                <a16:creationId xmlns:a16="http://schemas.microsoft.com/office/drawing/2014/main" id="{47262128-2856-4321-93A2-D02FB268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vAPI Trust Network  ·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B45C4-BE9D-48E8-9514-C50FB2CE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6F482-6C35-4234-8C4B-3D42BE0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0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025191-0F18-474D-946E-67E6E63C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EvaluationRouter v3 is deployed on Arc Testnet</a:t>
            </a:r>
          </a:p>
        </p:txBody>
      </p:sp>
      <p:sp>
        <p:nvSpPr>
          <p:cNvPr id="5" name="router-label">
            <a:extLst xmlns:a="http://schemas.openxmlformats.org/drawingml/2006/main">
              <a:ext uri="{FF2B5EF4-FFF2-40B4-BE49-F238E27FC236}">
                <a16:creationId xmlns:a16="http://schemas.microsoft.com/office/drawing/2014/main" id="{59EAC060-FE5D-42C8-96C0-03E02286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EvaluationRouter v3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B796F-A32E-4DE0-80BE-91D70AE7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8EFB6F76-C9E9-4B37-993F-FA7B073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3FF3D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C3FF3D"/>
                </a:solidFill>
                <a:latin typeface="Space Grotesk"/>
                <a:ea typeface="Space Grotesk"/>
                <a:cs typeface="Space Grotesk"/>
              </a:rPr>
              <a:t>Source verified</a:t>
            </a:r>
          </a:p>
        </p:txBody>
      </p:sp>
      <p:sp>
        <p:nvSpPr>
          <p:cNvPr id="8" name="router-address">
            <a:extLst xmlns:a="http://schemas.openxmlformats.org/drawingml/2006/main">
              <a:ext uri="{FF2B5EF4-FFF2-40B4-BE49-F238E27FC236}">
                <a16:creationId xmlns:a16="http://schemas.microsoft.com/office/drawing/2014/main" id="{179D5F5D-55E4-45B5-851D-81851E36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0B0AB"/>
                </a:solidFill>
                <a:latin typeface="IBM Plex Mono"/>
                <a:ea typeface="IBM Plex Mono"/>
                <a:cs typeface="IBM Plex Mono"/>
              </a:defRPr>
            </a:pPr>
            <a:r>
              <a:rPr sz="1425" b="0">
                <a:solidFill>
                  <a:srgbClr val="B0B0AB"/>
                </a:solidFill>
                <a:latin typeface="IBM Plex Mono"/>
                <a:ea typeface="IBM Plex Mono"/>
                <a:cs typeface="IBM Plex Mono"/>
              </a:rPr>
              <a:t>0x44A51C365eB3eC703534ebb56394E7015930533D</a:t>
            </a:r>
          </a:p>
        </p:txBody>
      </p:sp>
      <p:sp>
        <p:nvSpPr>
          <p:cNvPr id="9" name="commerce-label">
            <a:extLst xmlns:a="http://schemas.openxmlformats.org/drawingml/2006/main">
              <a:ext uri="{FF2B5EF4-FFF2-40B4-BE49-F238E27FC236}">
                <a16:creationId xmlns:a16="http://schemas.microsoft.com/office/drawing/2014/main" id="{AEC11ECA-3E2F-4FF7-8A1D-53CD844B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AgenticCommerce</a:t>
            </a:r>
          </a:p>
        </p:txBody>
      </p:sp>
      <p:sp>
        <p:nvSpPr>
          <p:cNvPr id="10" name="commerce-address">
            <a:extLst xmlns:a="http://schemas.openxmlformats.org/drawingml/2006/main">
              <a:ext uri="{FF2B5EF4-FFF2-40B4-BE49-F238E27FC236}">
                <a16:creationId xmlns:a16="http://schemas.microsoft.com/office/drawing/2014/main" id="{3D2B7FB5-76D1-4C68-A372-F61BA47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0B0AB"/>
                </a:solidFill>
                <a:latin typeface="IBM Plex Mono"/>
                <a:ea typeface="IBM Plex Mono"/>
                <a:cs typeface="IBM Plex Mono"/>
              </a:defRPr>
            </a:pPr>
            <a:r>
              <a:rPr sz="1425" b="0">
                <a:solidFill>
                  <a:srgbClr val="B0B0AB"/>
                </a:solidFill>
                <a:latin typeface="IBM Plex Mono"/>
                <a:ea typeface="IBM Plex Mono"/>
                <a:cs typeface="IBM Plex Mono"/>
              </a:rPr>
              <a:t>0x0747EEf0706327138c69792bF28Cd525089e4583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C9EAD-F4D6-406F-BF0C-07D068F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bs-label">
            <a:extLst xmlns:a="http://schemas.openxmlformats.org/drawingml/2006/main">
              <a:ext uri="{FF2B5EF4-FFF2-40B4-BE49-F238E27FC236}">
                <a16:creationId xmlns:a16="http://schemas.microsoft.com/office/drawing/2014/main" id="{D6D389D6-1188-4877-914B-CFFB51CC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Deployed job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65549-51C1-4F70-864E-0CA65E35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67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job-0">
            <a:extLst xmlns:a="http://schemas.openxmlformats.org/drawingml/2006/main">
              <a:ext uri="{FF2B5EF4-FFF2-40B4-BE49-F238E27FC236}">
                <a16:creationId xmlns:a16="http://schemas.microsoft.com/office/drawing/2014/main" id="{B69FF0E6-D8CF-41F3-A9D9-A8B1816F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AFAFA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FAFAFA"/>
                </a:solidFill>
                <a:latin typeface="IBM Plex Mono"/>
                <a:ea typeface="IBM Plex Mono"/>
                <a:cs typeface="IBM Plex Mono"/>
              </a:rPr>
              <a:t>#159668</a:t>
            </a:r>
          </a:p>
        </p:txBody>
      </p:sp>
      <p:sp>
        <p:nvSpPr>
          <p:cNvPr id="15" name="job-0-result">
            <a:extLst xmlns:a="http://schemas.openxmlformats.org/drawingml/2006/main">
              <a:ext uri="{FF2B5EF4-FFF2-40B4-BE49-F238E27FC236}">
                <a16:creationId xmlns:a16="http://schemas.microsoft.com/office/drawing/2014/main" id="{1C68678B-A1A4-4689-8DB4-D33B5FBC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AI completed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CD535-B31D-4C21-BEA9-F1990BDE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C82AD-24B2-490D-BBF6-6C45D1A2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29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job-1">
            <a:extLst xmlns:a="http://schemas.openxmlformats.org/drawingml/2006/main">
              <a:ext uri="{FF2B5EF4-FFF2-40B4-BE49-F238E27FC236}">
                <a16:creationId xmlns:a16="http://schemas.microsoft.com/office/drawing/2014/main" id="{3E4EBC3F-2D5B-4E82-B085-A8E4E8D1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62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AFAFA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FAFAFA"/>
                </a:solidFill>
                <a:latin typeface="IBM Plex Mono"/>
                <a:ea typeface="IBM Plex Mono"/>
                <a:cs typeface="IBM Plex Mono"/>
              </a:rPr>
              <a:t>#159669</a:t>
            </a:r>
          </a:p>
        </p:txBody>
      </p:sp>
      <p:sp>
        <p:nvSpPr>
          <p:cNvPr id="19" name="job-1-result">
            <a:extLst xmlns:a="http://schemas.openxmlformats.org/drawingml/2006/main">
              <a:ext uri="{FF2B5EF4-FFF2-40B4-BE49-F238E27FC236}">
                <a16:creationId xmlns:a16="http://schemas.microsoft.com/office/drawing/2014/main" id="{4AEACC5B-B84F-45ED-B8D3-B12E06FC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Injection detected and escalated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7A886-17F6-4C2B-ADCC-ADDF967B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8622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B3EAC-FACF-4773-8B6A-FC485415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91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job-2">
            <a:extLst xmlns:a="http://schemas.openxmlformats.org/drawingml/2006/main">
              <a:ext uri="{FF2B5EF4-FFF2-40B4-BE49-F238E27FC236}">
                <a16:creationId xmlns:a16="http://schemas.microsoft.com/office/drawing/2014/main" id="{3C8F0442-F27D-4889-802D-BCFBF90C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24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AFAFA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FAFAFA"/>
                </a:solidFill>
                <a:latin typeface="IBM Plex Mono"/>
                <a:ea typeface="IBM Plex Mono"/>
                <a:cs typeface="IBM Plex Mono"/>
              </a:rPr>
              <a:t>#159670</a:t>
            </a:r>
          </a:p>
        </p:txBody>
      </p:sp>
      <p:sp>
        <p:nvSpPr>
          <p:cNvPr id="23" name="job-2-result">
            <a:extLst xmlns:a="http://schemas.openxmlformats.org/drawingml/2006/main">
              <a:ext uri="{FF2B5EF4-FFF2-40B4-BE49-F238E27FC236}">
                <a16:creationId xmlns:a16="http://schemas.microsoft.com/office/drawing/2014/main" id="{604BEF5D-4A1D-4CED-8CA4-AB858C02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Human review selected and escalated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23C2C-08C3-4BC9-A623-8B4EE0B8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4822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st-strip">
            <a:extLst xmlns:a="http://schemas.openxmlformats.org/drawingml/2006/main">
              <a:ext uri="{FF2B5EF4-FFF2-40B4-BE49-F238E27FC236}">
                <a16:creationId xmlns:a16="http://schemas.microsoft.com/office/drawing/2014/main" id="{FBB4BCEC-EDE5-43B4-82BD-1F008CA0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6" name="test-strip-copy">
            <a:extLst xmlns:a="http://schemas.openxmlformats.org/drawingml/2006/main">
              <a:ext uri="{FF2B5EF4-FFF2-40B4-BE49-F238E27FC236}">
                <a16:creationId xmlns:a16="http://schemas.microsoft.com/office/drawing/2014/main" id="{DB66BAD7-CDC8-4FFC-8057-45312C90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37 Foundry tests   ·   108 core tests   ·   14 desktop and mobile browser runs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F2C16-E8F1-49AF-B766-6B5F72E5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F2F1E6A-21F7-4023-9416-21C9C303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Arc Testnet · chain ID 5042002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209A71-F66B-44D9-972F-F88F2B17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674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Agentic Economy</a:t>
            </a:r>
          </a:p>
        </p:txBody>
      </p:sp>
    </p:spTree>
    <p:extLst>
      <p:ext uri="{BB962C8B-B14F-4D97-AF65-F5344CB8AC3E}">
        <p14:creationId xmlns:p14="http://schemas.microsoft.com/office/powerpoint/2010/main" val="1853615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5">
            <a:extLst xmlns:a="http://schemas.openxmlformats.org/drawingml/2006/main">
              <a:ext uri="{FF2B5EF4-FFF2-40B4-BE49-F238E27FC236}">
                <a16:creationId xmlns:a16="http://schemas.microsoft.com/office/drawing/2014/main" id="{FED0F017-DDB0-41C0-A8C3-B44B255E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vAPI Trust Network  ·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E4EBA-46E2-45F8-A3E4-63738B35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ACCD2-26D5-49D1-8008-6E38D294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0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D46B1A-539D-432C-8DF3-D4EE5401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The next rehearsal must reach payout and settlement</a:t>
            </a:r>
          </a:p>
        </p:txBody>
      </p:sp>
      <p:sp>
        <p:nvSpPr>
          <p:cNvPr id="5" name="last-run-title">
            <a:extLst xmlns:a="http://schemas.openxmlformats.org/drawingml/2006/main">
              <a:ext uri="{FF2B5EF4-FFF2-40B4-BE49-F238E27FC236}">
                <a16:creationId xmlns:a16="http://schemas.microsoft.com/office/drawing/2014/main" id="{C59102E3-A652-4244-AEB6-C1A564D1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Last rehearsal · job 159917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8A583-43D1-4088-8A7B-108363A6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85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72210-7615-4E35-9F15-85F3E9EF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st-run-0">
            <a:extLst xmlns:a="http://schemas.openxmlformats.org/drawingml/2006/main">
              <a:ext uri="{FF2B5EF4-FFF2-40B4-BE49-F238E27FC236}">
                <a16:creationId xmlns:a16="http://schemas.microsoft.com/office/drawing/2014/main" id="{31E7FCEB-65A4-4B3B-ADAB-07366F08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Escrow created and funded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E6801-76A7-45B2-8B08-0A7FFBEF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st-run-1">
            <a:extLst xmlns:a="http://schemas.openxmlformats.org/drawingml/2006/main">
              <a:ext uri="{FF2B5EF4-FFF2-40B4-BE49-F238E27FC236}">
                <a16:creationId xmlns:a16="http://schemas.microsoft.com/office/drawing/2014/main" id="{B7840F34-54E9-43D7-BAED-8E007991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0.25 USDC x402 payment accepted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BD7FB-4132-49A1-AC79-7A371302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st-run-2">
            <a:extLst xmlns:a="http://schemas.openxmlformats.org/drawingml/2006/main">
              <a:ext uri="{FF2B5EF4-FFF2-40B4-BE49-F238E27FC236}">
                <a16:creationId xmlns:a16="http://schemas.microsoft.com/office/drawing/2014/main" id="{9DCD6A87-2E43-4F6F-973D-36BF2B1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B0B0AB"/>
                </a:solidFill>
                <a:latin typeface="Space Grotesk"/>
                <a:ea typeface="Space Grotesk"/>
                <a:cs typeface="Space Grotesk"/>
              </a:rPr>
              <a:t>Telegram review expired before a verdict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6B21D-598C-415A-B89C-8131928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ext-run-title">
            <a:extLst xmlns:a="http://schemas.openxmlformats.org/drawingml/2006/main">
              <a:ext uri="{FF2B5EF4-FFF2-40B4-BE49-F238E27FC236}">
                <a16:creationId xmlns:a16="http://schemas.microsoft.com/office/drawing/2014/main" id="{B756B283-8223-4649-8C7F-14D9544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Next run</a:t>
            </a:r>
          </a:p>
        </p:txBody>
      </p:sp>
      <p:sp>
        <p:nvSpPr>
          <p:cNvPr id="15" name="next-run-number-0">
            <a:extLst xmlns:a="http://schemas.openxmlformats.org/drawingml/2006/main">
              <a:ext uri="{FF2B5EF4-FFF2-40B4-BE49-F238E27FC236}">
                <a16:creationId xmlns:a16="http://schemas.microsoft.com/office/drawing/2014/main" id="{8178736D-4A94-4E73-A654-2594125E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73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FF73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next-run-0">
            <a:extLst xmlns:a="http://schemas.openxmlformats.org/drawingml/2006/main">
              <a:ext uri="{FF2B5EF4-FFF2-40B4-BE49-F238E27FC236}">
                <a16:creationId xmlns:a16="http://schemas.microsoft.com/office/drawing/2014/main" id="{A4300987-0E16-4ADF-842F-D7F1529E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Submit a reasoned verdict in Telegram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DA3CA-1F39-4E91-A629-B52BE4D0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ext-run-number-1">
            <a:extLst xmlns:a="http://schemas.openxmlformats.org/drawingml/2006/main">
              <a:ext uri="{FF2B5EF4-FFF2-40B4-BE49-F238E27FC236}">
                <a16:creationId xmlns:a16="http://schemas.microsoft.com/office/drawing/2014/main" id="{0E3A169E-8106-475E-A3BC-40EEF136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73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FF73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next-run-1">
            <a:extLst xmlns:a="http://schemas.openxmlformats.org/drawingml/2006/main">
              <a:ext uri="{FF2B5EF4-FFF2-40B4-BE49-F238E27FC236}">
                <a16:creationId xmlns:a16="http://schemas.microsoft.com/office/drawing/2014/main" id="{D3410E96-E0CD-4725-AAE5-443279D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Confirm the 0.20 USDC auditor payout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45942-C9C3-4066-A327-E245742E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xt-run-number-2">
            <a:extLst xmlns:a="http://schemas.openxmlformats.org/drawingml/2006/main">
              <a:ext uri="{FF2B5EF4-FFF2-40B4-BE49-F238E27FC236}">
                <a16:creationId xmlns:a16="http://schemas.microsoft.com/office/drawing/2014/main" id="{E0F1B33A-A110-4FDF-A00C-051A0957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73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FF73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next-run-2">
            <a:extLst xmlns:a="http://schemas.openxmlformats.org/drawingml/2006/main">
              <a:ext uri="{FF2B5EF4-FFF2-40B4-BE49-F238E27FC236}">
                <a16:creationId xmlns:a16="http://schemas.microsoft.com/office/drawing/2014/main" id="{64BCAB63-8F0F-47D1-886B-8DF57F6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Confirm humanResolve and the escrow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E260B-6C6E-4F0C-8AA0-20DE57E2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ext-run-number-3">
            <a:extLst xmlns:a="http://schemas.openxmlformats.org/drawingml/2006/main">
              <a:ext uri="{FF2B5EF4-FFF2-40B4-BE49-F238E27FC236}">
                <a16:creationId xmlns:a16="http://schemas.microsoft.com/office/drawing/2014/main" id="{B8116F0A-6CF6-41F2-A36F-517A218D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73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FF73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next-run-3">
            <a:extLst xmlns:a="http://schemas.openxmlformats.org/drawingml/2006/main">
              <a:ext uri="{FF2B5EF4-FFF2-40B4-BE49-F238E27FC236}">
                <a16:creationId xmlns:a16="http://schemas.microsoft.com/office/drawing/2014/main" id="{F109A05C-3A07-4B87-8FFE-84696AC6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FAFAFA"/>
                </a:solidFill>
                <a:latin typeface="Space Grotesk"/>
                <a:ea typeface="Space Grotesk"/>
                <a:cs typeface="Space Grotesk"/>
              </a:rPr>
              <a:t>Publish the read-only run 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0A3C2-5B3D-407A-8A14-BCAFB06E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po-url">
            <a:extLst xmlns:a="http://schemas.openxmlformats.org/drawingml/2006/main">
              <a:ext uri="{FF2B5EF4-FFF2-40B4-BE49-F238E27FC236}">
                <a16:creationId xmlns:a16="http://schemas.microsoft.com/office/drawing/2014/main" id="{C0B70303-91C1-4793-8863-EB9A0FD4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7EFF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97EFFF"/>
                </a:solidFill>
                <a:latin typeface="IBM Plex Mono"/>
                <a:ea typeface="IBM Plex Mono"/>
                <a:cs typeface="IBM Plex Mono"/>
              </a:rPr>
              <a:t>github.com/vAPI-Network/vapi-arc</a:t>
            </a:r>
          </a:p>
        </p:txBody>
      </p:sp>
      <p:sp>
        <p:nvSpPr>
          <p:cNvPr id="28" name="app-url">
            <a:extLst xmlns:a="http://schemas.openxmlformats.org/drawingml/2006/main">
              <a:ext uri="{FF2B5EF4-FFF2-40B4-BE49-F238E27FC236}">
                <a16:creationId xmlns:a16="http://schemas.microsoft.com/office/drawing/2014/main" id="{031ECF96-A9F8-40E4-8D46-86E89B0F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292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7EFFF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97EFFF"/>
                </a:solidFill>
                <a:latin typeface="IBM Plex Mono"/>
                <a:ea typeface="IBM Plex Mono"/>
                <a:cs typeface="IBM Plex Mono"/>
              </a:rPr>
              <a:t>vapi-web-production.up.railway.app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3013C0-EC1C-44DB-943C-048E9BD5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8DB10F-6A0C-4840-9CE9-3709E8C1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Checkpoint status · 2 Aug 2026</a:t>
            </a:r>
          </a:p>
        </p:txBody>
      </p:sp>
      <p:sp>
        <p:nvSpPr>
          <p:cNvPr id="3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77DF451-70BF-4954-BA0E-471D115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674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94948E"/>
                </a:solidFill>
                <a:latin typeface="Space Grotesk"/>
                <a:ea typeface="Space Grotesk"/>
                <a:cs typeface="Space Grotesk"/>
              </a:rPr>
              <a:t>Agentic Economy</a:t>
            </a:r>
          </a:p>
        </p:txBody>
      </p:sp>
    </p:spTree>
    <p:extLst>
      <p:ext uri="{BB962C8B-B14F-4D97-AF65-F5344CB8AC3E}">
        <p14:creationId xmlns:p14="http://schemas.microsoft.com/office/powerpoint/2010/main" val="1354111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2026-08-02T08:18:52.7810000Z</dcterms:created>
  <dcterms:modified xsi:type="dcterms:W3CDTF">2026-08-02T08:18:52.7810000Z</dcterms:modified>
</coreProperties>
</file>
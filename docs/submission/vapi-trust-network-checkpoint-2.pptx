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878a801519a4f83" /><Relationship Type="http://schemas.openxmlformats.org/officeDocument/2006/relationships/extended-properties" Target="/docProps/app.xml" Id="R865eed85856e403a" /><Relationship Type="http://schemas.openxmlformats.org/officeDocument/2006/relationships/officeDocument" Target="/ppt/presentation.xml" Id="Rc58134da8ac445e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60a40cfb6b84f62"/>
  </p:sldMasterIdLst>
  <p:notesMasterIdLst>
    <p:notesMasterId xmlns:r="http://schemas.openxmlformats.org/officeDocument/2006/relationships" r:id="R68d94e852652406e"/>
  </p:notesMasterIdLst>
  <p:sldIdLst>
    <p:sldId xmlns:r="http://schemas.openxmlformats.org/officeDocument/2006/relationships" id="256" r:id="R403a21f5558e4806"/>
    <p:sldId xmlns:r="http://schemas.openxmlformats.org/officeDocument/2006/relationships" id="257" r:id="R23c95ebbe261415b"/>
    <p:sldId xmlns:r="http://schemas.openxmlformats.org/officeDocument/2006/relationships" id="258" r:id="R83365e0d76a64ecb"/>
    <p:sldId xmlns:r="http://schemas.openxmlformats.org/officeDocument/2006/relationships" id="259" r:id="R3da86574ea2442f0"/>
    <p:sldId xmlns:r="http://schemas.openxmlformats.org/officeDocument/2006/relationships" id="260" r:id="R2e417e0f411d44c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b40b32de4a34196" /><Relationship Type="http://schemas.openxmlformats.org/officeDocument/2006/relationships/slideMaster" Target="/ppt/slideMasters/slideMaster1.xml" Id="Ra60a40cfb6b84f62" /><Relationship Type="http://schemas.openxmlformats.org/officeDocument/2006/relationships/notesMaster" Target="/ppt/notesMasters/notesMaster1.xml" Id="R68d94e852652406e" /><Relationship Type="http://schemas.openxmlformats.org/officeDocument/2006/relationships/presProps" Target="/ppt/presProps.xml" Id="Rddf29bec7d1c41f9" /><Relationship Type="http://schemas.openxmlformats.org/officeDocument/2006/relationships/tableStyles" Target="/ppt/tableStyles.xml" Id="Re25d0d65f3194fc0" /><Relationship Type="http://schemas.openxmlformats.org/officeDocument/2006/relationships/slide" Target="/ppt/slides/slide1.xml" Id="R403a21f5558e4806" /><Relationship Type="http://schemas.openxmlformats.org/officeDocument/2006/relationships/slide" Target="/ppt/slides/slide2.xml" Id="R23c95ebbe261415b" /><Relationship Type="http://schemas.openxmlformats.org/officeDocument/2006/relationships/slide" Target="/ppt/slides/slide3.xml" Id="R83365e0d76a64ecb" /><Relationship Type="http://schemas.openxmlformats.org/officeDocument/2006/relationships/slide" Target="/ppt/slides/slide4.xml" Id="R3da86574ea2442f0" /><Relationship Type="http://schemas.openxmlformats.org/officeDocument/2006/relationships/slide" Target="/ppt/slides/slide5.xml" Id="R2e417e0f411d44c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d2dbf5937614bc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f0a8c6f77aa4fbe" /><Relationship Type="http://schemas.openxmlformats.org/officeDocument/2006/relationships/notesMaster" Target="/ppt/notesMasters/notesMaster1.xml" Id="Rbb531ceff430488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795a7e72cf64699" /><Relationship Type="http://schemas.openxmlformats.org/officeDocument/2006/relationships/notesMaster" Target="/ppt/notesMasters/notesMaster1.xml" Id="Rabbab7980d864e2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422bee2560c4559" /><Relationship Type="http://schemas.openxmlformats.org/officeDocument/2006/relationships/notesMaster" Target="/ppt/notesMasters/notesMaster1.xml" Id="R9b805510b4264f7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fec735b26584c30" /><Relationship Type="http://schemas.openxmlformats.org/officeDocument/2006/relationships/notesMaster" Target="/ppt/notesMasters/notesMaster1.xml" Id="R4a6e978bfc5543e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c7d722b2c63465c" /><Relationship Type="http://schemas.openxmlformats.org/officeDocument/2006/relationships/notesMaster" Target="/ppt/notesMasters/notesMaster1.xml" Id="Rf62fe664f3e64de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https://github.com/vAPI-Network/vapi-arc</a:t>
            </a:r>
          </a:p>
          <a:p xmlns:a="http://schemas.openxmlformats.org/drawingml/2006/main">
            <a:r>
              <a:t>- https://github.com/vAPI-Network/vapi-arc/blob/main/docs/specs/2026-07-28-paid-human-review-exchange.md</a:t>
            </a:r>
          </a:p>
          <a:p xmlns:a="http://schemas.openxmlformats.org/drawingml/2006/main">
            <a:r>
              <a:t>- vAPI wordmark from the vAPI Hairline brand kit in the local vapi-app repository.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https://github.com/vAPI-Network/vapi-arc/blob/main/contracts/src/EvaluationRouter.sol</a:t>
            </a:r>
          </a:p>
          <a:p xmlns:a="http://schemas.openxmlformats.org/drawingml/2006/main">
            <a:r>
              <a:t>- https://github.com/vAPI-Network/vapi-arc/blob/main/core/README.md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https://developers.circle.com/gateway/nanopayments/quickstarts/seller</a:t>
            </a:r>
          </a:p>
          <a:p xmlns:a="http://schemas.openxmlformats.org/drawingml/2006/main">
            <a:r>
              <a:t>- https://github.com/vAPI-Network/vapi-arc/blob/main/docs/specs/2026-07-28-paid-human-review-exchange.md</a:t>
            </a:r>
          </a:p>
          <a:p xmlns:a="http://schemas.openxmlformats.org/drawingml/2006/main">
            <a:r>
              <a:t>- https://github.com/vAPI-Network/vapi-arc/blob/main/contracts/src/EvaluationRouter.sol</a:t>
            </a:r>
          </a:p>
          <a:p xmlns:a="http://schemas.openxmlformats.org/drawingml/2006/main">
            <a:r>
              <a:t>- Telegram QR generated from https://t.me/vAPITrustCouncilBot.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https://testnet.arcscan.app/address/0x44A51C365eB3eC703534ebb56394E7015930533D</a:t>
            </a:r>
          </a:p>
          <a:p xmlns:a="http://schemas.openxmlformats.org/drawingml/2006/main">
            <a:r>
              <a:t>- https://testnet.arcscan.app/address/0x0747EEf0706327138c69792bF28Cd525089e4583</a:t>
            </a:r>
          </a:p>
          <a:p xmlns:a="http://schemas.openxmlformats.org/drawingml/2006/main">
            <a:r>
              <a:t>- https://github.com/vAPI-Network/vapi-arc/blob/main/README.md</a:t>
            </a:r>
          </a:p>
          <a:p xmlns:a="http://schemas.openxmlformats.org/drawingml/2006/main">
            <a:r>
              <a:t>- https://github.com/vAPI-Network/vapi-arc/blob/main/contracts/test/EvaluationRouter.t.sol</a:t>
            </a:r>
          </a:p>
          <a:p xmlns:a="http://schemas.openxmlformats.org/drawingml/2006/main">
            <a:r>
              <a:t>- https://github.com/vAPI-Network/vapi-arc/tree/main/core/src</a:t>
            </a:r>
          </a:p>
          <a:p xmlns:a="http://schemas.openxmlformats.org/drawingml/2006/main">
            <a:r>
              <a:t>- https://github.com/vAPI-Network/vapi-arc/tree/main/app/tests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https://github.com/vAPI-Network/vapi-arc/blob/main/README.md</a:t>
            </a:r>
          </a:p>
          <a:p xmlns:a="http://schemas.openxmlformats.org/drawingml/2006/main">
            <a:r>
              <a:t>- https://vapi-web-production.up.railway.app</a:t>
            </a:r>
          </a:p>
          <a:p xmlns:a="http://schemas.openxmlformats.org/drawingml/2006/main">
            <a:r>
              <a:t>- https://github.com/vAPI-Network/vapi-arc/blob/main/docs/deployment/railway.md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0b8f1b57b74e7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3bb7b374cc24e8e" /><Relationship Type="http://schemas.openxmlformats.org/officeDocument/2006/relationships/slideLayout" Target="/ppt/slideLayouts/slideLayout1.xml" Id="Rc8771f54f5cc4e8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8771f54f5cc4e8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5804eb01c44a15" /><Relationship Type="http://schemas.openxmlformats.org/officeDocument/2006/relationships/image" Target="/ppt/media/image.png" Id="R471a2857b5214dbf" /><Relationship Type="http://schemas.openxmlformats.org/officeDocument/2006/relationships/notesSlide" Target="/ppt/notesSlides/notesSlide1.xml" Id="R108766c25641493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45e3db7c194189" /><Relationship Type="http://schemas.openxmlformats.org/officeDocument/2006/relationships/notesSlide" Target="/ppt/notesSlides/notesSlide2.xml" Id="Rf8a80153f2e0472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8bb9a0a4264dcc" /><Relationship Type="http://schemas.openxmlformats.org/officeDocument/2006/relationships/image" Target="/ppt/media/image2.png" Id="Rd8fe800d20364363" /><Relationship Type="http://schemas.openxmlformats.org/officeDocument/2006/relationships/notesSlide" Target="/ppt/notesSlides/notesSlide3.xml" Id="Rd103610d7b1d4b0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56d0a920434e99" /><Relationship Type="http://schemas.openxmlformats.org/officeDocument/2006/relationships/notesSlide" Target="/ppt/notesSlides/notesSlide4.xml" Id="R5188bf790e53426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72b18ae85a4996" /><Relationship Type="http://schemas.openxmlformats.org/officeDocument/2006/relationships/notesSlide" Target="/ppt/notesSlides/notesSlide5.xml" Id="R592695c80513433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1a2857b5214dbf"/>
          <a:stretch xmlns:a="http://schemas.openxmlformats.org/drawingml/2006/main"/>
        </p:blipFill>
        <p:spPr>
          <a:xfrm xmlns:a="http://schemas.openxmlformats.org/drawingml/2006/main">
            <a:off x="685800" y="489329"/>
            <a:ext cx="1428750" cy="469142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B23C82-DA13-4BE2-8F29-8F7F51A96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2B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27DE9D-33E5-4131-B8DE-4BE930811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9675"/>
            <a:ext cx="10477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k-title">
            <a:extLst xmlns:a="http://schemas.openxmlformats.org/drawingml/2006/main">
              <a:ext uri="{FF2B5EF4-FFF2-40B4-BE49-F238E27FC236}">
                <a16:creationId xmlns:a16="http://schemas.microsoft.com/office/drawing/2014/main" id="{EC44D703-34A8-4230-B5FA-85099DC73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904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100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defRPr>
            </a:pPr>
            <a:r>
              <a:rPr sz="5100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rPr>
              <a:t>vAPI Trust Network</a:t>
            </a:r>
          </a:p>
        </p:txBody>
      </p:sp>
      <p:sp>
        <p:nvSpPr>
          <p:cNvPr id="5" name="deck-subtitle">
            <a:extLst xmlns:a="http://schemas.openxmlformats.org/drawingml/2006/main">
              <a:ext uri="{FF2B5EF4-FFF2-40B4-BE49-F238E27FC236}">
                <a16:creationId xmlns:a16="http://schemas.microsoft.com/office/drawing/2014/main" id="{D05F882E-E363-4AAA-A454-B12B77883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781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B0B0AB"/>
                </a:solidFill>
                <a:latin typeface="Space Grotesk"/>
                <a:ea typeface="Space Grotesk"/>
                <a:cs typeface="Space Grotesk"/>
              </a:defRPr>
            </a:pPr>
            <a:r>
              <a:rPr sz="2025" b="0">
                <a:solidFill>
                  <a:srgbClr val="B0B0AB"/>
                </a:solidFill>
                <a:latin typeface="Space Grotesk"/>
                <a:ea typeface="Space Grotesk"/>
                <a:cs typeface="Space Grotesk"/>
              </a:rPr>
              <a:t>Paid human review for ERC-8183 jobs on Arc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7F75F5-E9A9-49BE-A1DE-58F390EDC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81475"/>
            <a:ext cx="581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9DA3DF-65B2-4AF7-BDEF-903F6BD11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181475"/>
            <a:ext cx="15716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1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FB5D6C-2EF2-4159-A2B1-81FD14800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4181475"/>
            <a:ext cx="1047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37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deck-meta">
            <a:extLst xmlns:a="http://schemas.openxmlformats.org/drawingml/2006/main">
              <a:ext uri="{FF2B5EF4-FFF2-40B4-BE49-F238E27FC236}">
                <a16:creationId xmlns:a16="http://schemas.microsoft.com/office/drawing/2014/main" id="{F2B75122-210A-49AC-92A1-F47995187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4820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4948E"/>
                </a:solidFill>
                <a:latin typeface="Space Grotesk"/>
                <a:ea typeface="Space Grotesk"/>
                <a:cs typeface="Space Grotesk"/>
              </a:defRPr>
            </a:pPr>
            <a:r>
              <a:rPr sz="1275" b="0">
                <a:solidFill>
                  <a:srgbClr val="94948E"/>
                </a:solidFill>
                <a:latin typeface="Space Grotesk"/>
                <a:ea typeface="Space Grotesk"/>
                <a:cs typeface="Space Grotesk"/>
              </a:rPr>
              <a:t>Arc Testnet · Agentic Economy</a:t>
            </a:r>
          </a:p>
        </p:txBody>
      </p:sp>
    </p:spTree>
    <p:extLst>
      <p:ext uri="{BB962C8B-B14F-4D97-AF65-F5344CB8AC3E}">
        <p14:creationId xmlns:p14="http://schemas.microsoft.com/office/powerpoint/2010/main" val="1992842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page-2">
            <a:extLst xmlns:a="http://schemas.openxmlformats.org/drawingml/2006/main">
              <a:ext uri="{FF2B5EF4-FFF2-40B4-BE49-F238E27FC236}">
                <a16:creationId xmlns:a16="http://schemas.microsoft.com/office/drawing/2014/main" id="{8DE84E78-0695-4ADF-AC79-F66C6EF95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30480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94948E"/>
                </a:solidFill>
                <a:latin typeface="IBM Plex Mono"/>
                <a:ea typeface="IBM Plex Mono"/>
                <a:cs typeface="IBM Plex Mono"/>
              </a:defRPr>
            </a:pPr>
            <a:r>
              <a:rPr sz="975" b="0">
                <a:solidFill>
                  <a:srgbClr val="94948E"/>
                </a:solidFill>
                <a:latin typeface="IBM Plex Mono"/>
                <a:ea typeface="IBM Plex Mono"/>
                <a:cs typeface="IBM Plex Mono"/>
              </a:rPr>
              <a:t>02 / 05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ED08BC2-4753-43D8-9195-55A2AF934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0012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defRPr>
            </a:pPr>
            <a:r>
              <a:rPr sz="3150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rPr>
              <a:t>AI reviews routine jobs. Auditors review the rest.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50E873-4E33-471F-92F1-11DC335CB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162300"/>
            <a:ext cx="666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998046-3875-4E98-A84E-886CD705D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162300"/>
            <a:ext cx="666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BB22B9-A941-40BF-8AC8-CDF455B2C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381250"/>
            <a:ext cx="28575" cy="1590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6BE5BD-685D-4D41-8E1B-5EBF9049D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381250"/>
            <a:ext cx="647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732B00-37BE-4415-9D7A-85169FBC5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943350"/>
            <a:ext cx="647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37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9BEBEB-631C-421E-A492-007F161BE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381250"/>
            <a:ext cx="685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A231BE-E379-43F2-95D2-F61A1B147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943350"/>
            <a:ext cx="685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37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98AAA2-362E-4A2C-86D9-2ED246D1E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2381250"/>
            <a:ext cx="28575" cy="1590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3B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3C4E3C-FDA8-49FF-A9E3-F27B2A35F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3114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A16F0A-FEA7-403E-A5A1-331C05C88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114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flow-node-0">
            <a:extLst xmlns:a="http://schemas.openxmlformats.org/drawingml/2006/main">
              <a:ext uri="{FF2B5EF4-FFF2-40B4-BE49-F238E27FC236}">
                <a16:creationId xmlns:a16="http://schemas.microsoft.com/office/drawing/2014/main" id="{833B89B2-D7BC-444D-BE2D-1841DC33E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47950"/>
            <a:ext cx="1905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818"/>
          </a:solidFill>
          <a:ln xmlns:a="http://schemas.openxmlformats.org/drawingml/2006/main" w="9525">
            <a:solidFill>
              <a:srgbClr val="3B3B3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702053-A404-46D5-8B85-04FC43084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47950"/>
            <a:ext cx="1905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1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flow-node-0-label">
            <a:extLst xmlns:a="http://schemas.openxmlformats.org/drawingml/2006/main">
              <a:ext uri="{FF2B5EF4-FFF2-40B4-BE49-F238E27FC236}">
                <a16:creationId xmlns:a16="http://schemas.microsoft.com/office/drawing/2014/main" id="{246DBD79-B146-4235-AE0C-BBBEBD0C5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575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defRPr>
            </a:pPr>
            <a:r>
              <a:rPr sz="1425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rPr>
              <a:t>Agent funds job</a:t>
            </a:r>
          </a:p>
        </p:txBody>
      </p:sp>
      <p:sp>
        <p:nvSpPr>
          <p:cNvPr id="16" name="flow-node-0-detail">
            <a:extLst xmlns:a="http://schemas.openxmlformats.org/drawingml/2006/main">
              <a:ext uri="{FF2B5EF4-FFF2-40B4-BE49-F238E27FC236}">
                <a16:creationId xmlns:a16="http://schemas.microsoft.com/office/drawing/2014/main" id="{0AED6003-C0E3-48B6-8250-BF35A349D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00400"/>
            <a:ext cx="1562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0B0AB"/>
                </a:solidFill>
                <a:latin typeface="Space Grotesk"/>
                <a:ea typeface="Space Grotesk"/>
                <a:cs typeface="Space Grotesk"/>
              </a:defRPr>
            </a:pPr>
            <a:r>
              <a:rPr sz="1050" b="0">
                <a:solidFill>
                  <a:srgbClr val="B0B0AB"/>
                </a:solidFill>
                <a:latin typeface="Space Grotesk"/>
                <a:ea typeface="Space Grotesk"/>
                <a:cs typeface="Space Grotesk"/>
              </a:rPr>
              <a:t>USDC enters the ERC-8183 escrow.</a:t>
            </a:r>
          </a:p>
        </p:txBody>
      </p:sp>
      <p:sp>
        <p:nvSpPr>
          <p:cNvPr id="17" name="flow-node-1">
            <a:extLst xmlns:a="http://schemas.openxmlformats.org/drawingml/2006/main">
              <a:ext uri="{FF2B5EF4-FFF2-40B4-BE49-F238E27FC236}">
                <a16:creationId xmlns:a16="http://schemas.microsoft.com/office/drawing/2014/main" id="{ACC38203-5065-4C61-B57F-A5132875B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647950"/>
            <a:ext cx="20383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818"/>
          </a:solidFill>
          <a:ln xmlns:a="http://schemas.openxmlformats.org/drawingml/2006/main" w="9525">
            <a:solidFill>
              <a:srgbClr val="3B3B3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1114FB-C6E1-4267-A07E-424FA713F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647950"/>
            <a:ext cx="2038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7E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flow-node-1-label">
            <a:extLst xmlns:a="http://schemas.openxmlformats.org/drawingml/2006/main">
              <a:ext uri="{FF2B5EF4-FFF2-40B4-BE49-F238E27FC236}">
                <a16:creationId xmlns:a16="http://schemas.microsoft.com/office/drawing/2014/main" id="{049A4953-53D0-4233-809F-BB3B7A37D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857500"/>
            <a:ext cx="1695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334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defRPr>
            </a:pPr>
            <a:r>
              <a:rPr sz="1425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rPr>
              <a:t>Freelancer submits work</a:t>
            </a:r>
          </a:p>
        </p:txBody>
      </p:sp>
      <p:sp>
        <p:nvSpPr>
          <p:cNvPr id="20" name="flow-node-1-detail">
            <a:extLst xmlns:a="http://schemas.openxmlformats.org/drawingml/2006/main">
              <a:ext uri="{FF2B5EF4-FFF2-40B4-BE49-F238E27FC236}">
                <a16:creationId xmlns:a16="http://schemas.microsoft.com/office/drawing/2014/main" id="{9A75AB1D-F102-4F23-8489-4880C9B11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200400"/>
            <a:ext cx="1695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0B0AB"/>
                </a:solidFill>
                <a:latin typeface="Space Grotesk"/>
                <a:ea typeface="Space Grotesk"/>
                <a:cs typeface="Space Grotesk"/>
              </a:defRPr>
            </a:pPr>
            <a:r>
              <a:rPr sz="1050" b="0">
                <a:solidFill>
                  <a:srgbClr val="B0B0AB"/>
                </a:solidFill>
                <a:latin typeface="Space Grotesk"/>
                <a:ea typeface="Space Grotesk"/>
                <a:cs typeface="Space Grotesk"/>
              </a:rPr>
              <a:t>Arc stores a hash of the work.</a:t>
            </a:r>
          </a:p>
        </p:txBody>
      </p:sp>
      <p:sp>
        <p:nvSpPr>
          <p:cNvPr id="21" name="flow-node-2">
            <a:extLst xmlns:a="http://schemas.openxmlformats.org/drawingml/2006/main">
              <a:ext uri="{FF2B5EF4-FFF2-40B4-BE49-F238E27FC236}">
                <a16:creationId xmlns:a16="http://schemas.microsoft.com/office/drawing/2014/main" id="{9D9C39BD-49BC-4C6A-B7FE-856CA2DC7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847850"/>
            <a:ext cx="20383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818"/>
          </a:solidFill>
          <a:ln xmlns:a="http://schemas.openxmlformats.org/drawingml/2006/main" w="9525">
            <a:solidFill>
              <a:srgbClr val="3B3B3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A6F112-D264-4F5D-A98D-333C9F6DB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847850"/>
            <a:ext cx="2038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flow-node-2-label">
            <a:extLst xmlns:a="http://schemas.openxmlformats.org/drawingml/2006/main">
              <a:ext uri="{FF2B5EF4-FFF2-40B4-BE49-F238E27FC236}">
                <a16:creationId xmlns:a16="http://schemas.microsoft.com/office/drawing/2014/main" id="{968DAD65-DA3A-4DC5-B076-907162D0C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057400"/>
            <a:ext cx="1695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defRPr>
            </a:pPr>
            <a:r>
              <a:rPr sz="1425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rPr>
              <a:t>AIAllowed</a:t>
            </a:r>
          </a:p>
        </p:txBody>
      </p:sp>
      <p:sp>
        <p:nvSpPr>
          <p:cNvPr id="24" name="flow-node-2-detail">
            <a:extLst xmlns:a="http://schemas.openxmlformats.org/drawingml/2006/main">
              <a:ext uri="{FF2B5EF4-FFF2-40B4-BE49-F238E27FC236}">
                <a16:creationId xmlns:a16="http://schemas.microsoft.com/office/drawing/2014/main" id="{60E28438-F2A4-44E1-9E37-F65CE43C6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00300"/>
            <a:ext cx="1695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468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0B0AB"/>
                </a:solidFill>
                <a:latin typeface="Space Grotesk"/>
                <a:ea typeface="Space Grotesk"/>
                <a:cs typeface="Space Grotesk"/>
              </a:defRPr>
            </a:pPr>
            <a:r>
              <a:rPr sz="1050" b="0">
                <a:solidFill>
                  <a:srgbClr val="B0B0AB"/>
                </a:solidFill>
                <a:latin typeface="Space Grotesk"/>
                <a:ea typeface="Space Grotesk"/>
                <a:cs typeface="Space Grotesk"/>
              </a:rPr>
              <a:t>The router checks the verdict against the job and policy.</a:t>
            </a:r>
          </a:p>
        </p:txBody>
      </p:sp>
      <p:sp>
        <p:nvSpPr>
          <p:cNvPr id="25" name="flow-node-3">
            <a:extLst xmlns:a="http://schemas.openxmlformats.org/drawingml/2006/main">
              <a:ext uri="{FF2B5EF4-FFF2-40B4-BE49-F238E27FC236}">
                <a16:creationId xmlns:a16="http://schemas.microsoft.com/office/drawing/2014/main" id="{0B3BAD94-27B5-46F6-9B61-BD254D4A1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09950"/>
            <a:ext cx="20383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818"/>
          </a:solidFill>
          <a:ln xmlns:a="http://schemas.openxmlformats.org/drawingml/2006/main" w="9525">
            <a:solidFill>
              <a:srgbClr val="3B3B3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82296BF-F2B1-426F-9A8E-4F8C55874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09950"/>
            <a:ext cx="2038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37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flow-node-3-label">
            <a:extLst xmlns:a="http://schemas.openxmlformats.org/drawingml/2006/main">
              <a:ext uri="{FF2B5EF4-FFF2-40B4-BE49-F238E27FC236}">
                <a16:creationId xmlns:a16="http://schemas.microsoft.com/office/drawing/2014/main" id="{94DE29F0-DFCF-472E-9B86-48FCB799B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619500"/>
            <a:ext cx="1695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defRPr>
            </a:pPr>
            <a:r>
              <a:rPr sz="1425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rPr>
              <a:t>Human review</a:t>
            </a:r>
          </a:p>
        </p:txBody>
      </p:sp>
      <p:sp>
        <p:nvSpPr>
          <p:cNvPr id="28" name="flow-node-3-detail">
            <a:extLst xmlns:a="http://schemas.openxmlformats.org/drawingml/2006/main">
              <a:ext uri="{FF2B5EF4-FFF2-40B4-BE49-F238E27FC236}">
                <a16:creationId xmlns:a16="http://schemas.microsoft.com/office/drawing/2014/main" id="{8307095F-D712-4186-AB93-893446193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62400"/>
            <a:ext cx="1695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0B0AB"/>
                </a:solidFill>
                <a:latin typeface="Space Grotesk"/>
                <a:ea typeface="Space Grotesk"/>
                <a:cs typeface="Space Grotesk"/>
              </a:defRPr>
            </a:pPr>
            <a:r>
              <a:rPr sz="1050" b="0">
                <a:solidFill>
                  <a:srgbClr val="B0B0AB"/>
                </a:solidFill>
                <a:latin typeface="Space Grotesk"/>
                <a:ea typeface="Space Grotesk"/>
                <a:cs typeface="Space Grotesk"/>
              </a:rPr>
              <a:t>HumanOnly and escalated jobs wait for a reviewer.</a:t>
            </a:r>
          </a:p>
        </p:txBody>
      </p:sp>
      <p:sp>
        <p:nvSpPr>
          <p:cNvPr id="29" name="flow-node-4">
            <a:extLst xmlns:a="http://schemas.openxmlformats.org/drawingml/2006/main">
              <a:ext uri="{FF2B5EF4-FFF2-40B4-BE49-F238E27FC236}">
                <a16:creationId xmlns:a16="http://schemas.microsoft.com/office/drawing/2014/main" id="{D065F809-4254-4E9C-8156-09EBB1F32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647950"/>
            <a:ext cx="20383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818"/>
          </a:solidFill>
          <a:ln xmlns:a="http://schemas.openxmlformats.org/drawingml/2006/main" w="9525">
            <a:solidFill>
              <a:srgbClr val="3B3B3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DC29195-799B-40CA-BD06-5074DE5ED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647950"/>
            <a:ext cx="2038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3FF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flow-node-4-label">
            <a:extLst xmlns:a="http://schemas.openxmlformats.org/drawingml/2006/main">
              <a:ext uri="{FF2B5EF4-FFF2-40B4-BE49-F238E27FC236}">
                <a16:creationId xmlns:a16="http://schemas.microsoft.com/office/drawing/2014/main" id="{F3F58560-7671-4E13-8882-9D60D9503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857500"/>
            <a:ext cx="1695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defRPr>
            </a:pPr>
            <a:r>
              <a:rPr sz="1425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rPr>
              <a:t>Escrow settles</a:t>
            </a:r>
          </a:p>
        </p:txBody>
      </p:sp>
      <p:sp>
        <p:nvSpPr>
          <p:cNvPr id="32" name="flow-node-4-detail">
            <a:extLst xmlns:a="http://schemas.openxmlformats.org/drawingml/2006/main">
              <a:ext uri="{FF2B5EF4-FFF2-40B4-BE49-F238E27FC236}">
                <a16:creationId xmlns:a16="http://schemas.microsoft.com/office/drawing/2014/main" id="{D299FC6C-3687-4E08-90C1-CF85E7C4C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200400"/>
            <a:ext cx="1695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0B0AB"/>
                </a:solidFill>
                <a:latin typeface="Space Grotesk"/>
                <a:ea typeface="Space Grotesk"/>
                <a:cs typeface="Space Grotesk"/>
              </a:defRPr>
            </a:pPr>
            <a:r>
              <a:rPr sz="1050" b="0">
                <a:solidFill>
                  <a:srgbClr val="B0B0AB"/>
                </a:solidFill>
                <a:latin typeface="Space Grotesk"/>
                <a:ea typeface="Space Grotesk"/>
                <a:cs typeface="Space Grotesk"/>
              </a:rPr>
              <a:t>Funds go to the freelancer or back to the client.</a:t>
            </a:r>
          </a:p>
        </p:txBody>
      </p:sp>
      <p:sp>
        <p:nvSpPr>
          <p:cNvPr id="33" name="key-note">
            <a:extLst xmlns:a="http://schemas.openxmlformats.org/drawingml/2006/main">
              <a:ext uri="{FF2B5EF4-FFF2-40B4-BE49-F238E27FC236}">
                <a16:creationId xmlns:a16="http://schemas.microsoft.com/office/drawing/2014/main" id="{E9616B5C-B7D7-4686-AA4D-0269FA689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53000"/>
            <a:ext cx="10687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1F1F"/>
          </a:solidFill>
          <a:ln xmlns:a="http://schemas.openxmlformats.org/drawingml/2006/main" w="9525">
            <a:solidFill>
              <a:srgbClr val="2B2B2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907CED1-1141-4B58-8916-B790CFAE1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2197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3FF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key-note-text">
            <a:extLst xmlns:a="http://schemas.openxmlformats.org/drawingml/2006/main">
              <a:ext uri="{FF2B5EF4-FFF2-40B4-BE49-F238E27FC236}">
                <a16:creationId xmlns:a16="http://schemas.microsoft.com/office/drawing/2014/main" id="{D635479E-56F0-4D87-9667-372170FE8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1149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0B0AB"/>
                </a:solidFill>
                <a:latin typeface="Space Grotesk"/>
                <a:ea typeface="Space Grotesk"/>
                <a:cs typeface="Space Grotesk"/>
              </a:defRPr>
            </a:pPr>
            <a:r>
              <a:rPr sz="1350" b="0">
                <a:solidFill>
                  <a:srgbClr val="B0B0AB"/>
                </a:solidFill>
                <a:latin typeface="Space Grotesk"/>
                <a:ea typeface="Space Grotesk"/>
                <a:cs typeface="Space Grotesk"/>
              </a:rPr>
              <a:t>AI never signs transactions. The router checks its verdict before the oracle submits it.</a:t>
            </a:r>
          </a:p>
        </p:txBody>
      </p:sp>
    </p:spTree>
    <p:extLst>
      <p:ext uri="{BB962C8B-B14F-4D97-AF65-F5344CB8AC3E}">
        <p14:creationId xmlns:p14="http://schemas.microsoft.com/office/powerpoint/2010/main" val="98772178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page-3">
            <a:extLst xmlns:a="http://schemas.openxmlformats.org/drawingml/2006/main">
              <a:ext uri="{FF2B5EF4-FFF2-40B4-BE49-F238E27FC236}">
                <a16:creationId xmlns:a16="http://schemas.microsoft.com/office/drawing/2014/main" id="{68A44C92-FC81-4141-8FF0-3C953E950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30480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94948E"/>
                </a:solidFill>
                <a:latin typeface="IBM Plex Mono"/>
                <a:ea typeface="IBM Plex Mono"/>
                <a:cs typeface="IBM Plex Mono"/>
              </a:defRPr>
            </a:pPr>
            <a:r>
              <a:rPr sz="975" b="0">
                <a:solidFill>
                  <a:srgbClr val="94948E"/>
                </a:solidFill>
                <a:latin typeface="IBM Plex Mono"/>
                <a:ea typeface="IBM Plex Mono"/>
                <a:cs typeface="IBM Plex Mono"/>
              </a:rPr>
              <a:t>03 / 05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C318346-BEB5-4854-9F83-EF3FB64B3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0012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defRPr>
            </a:pPr>
            <a:r>
              <a:rPr sz="3150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rPr>
              <a:t>The agent pays 0.25 USDC. The auditor receives 0.20.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3E92B3-D625-49D3-80B7-FBEA01D4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90750"/>
            <a:ext cx="3810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0AD57B-FD13-4717-AF46-991D53551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9075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3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review-step-0-label">
            <a:extLst xmlns:a="http://schemas.openxmlformats.org/drawingml/2006/main">
              <a:ext uri="{FF2B5EF4-FFF2-40B4-BE49-F238E27FC236}">
                <a16:creationId xmlns:a16="http://schemas.microsoft.com/office/drawing/2014/main" id="{9067691B-F672-483F-A7AA-917EA3588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019300"/>
            <a:ext cx="647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defRPr>
            </a:pPr>
            <a:r>
              <a:rPr sz="1575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rPr>
              <a:t>The agent pays through Circle Gateway</a:t>
            </a:r>
          </a:p>
        </p:txBody>
      </p:sp>
      <p:sp>
        <p:nvSpPr>
          <p:cNvPr id="6" name="review-step-0-detail">
            <a:extLst xmlns:a="http://schemas.openxmlformats.org/drawingml/2006/main">
              <a:ext uri="{FF2B5EF4-FFF2-40B4-BE49-F238E27FC236}">
                <a16:creationId xmlns:a16="http://schemas.microsoft.com/office/drawing/2014/main" id="{C5272944-EEEE-462E-8263-B66C45DF5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62200"/>
            <a:ext cx="647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0B0AB"/>
                </a:solidFill>
                <a:latin typeface="Space Grotesk"/>
                <a:ea typeface="Space Grotesk"/>
                <a:cs typeface="Space Grotesk"/>
              </a:defRPr>
            </a:pPr>
            <a:r>
              <a:rPr sz="1125" b="0">
                <a:solidFill>
                  <a:srgbClr val="B0B0AB"/>
                </a:solidFill>
                <a:latin typeface="Space Grotesk"/>
                <a:ea typeface="Space Grotesk"/>
                <a:cs typeface="Space Grotesk"/>
              </a:rPr>
              <a:t>The service stores the review order.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F3022F-40E9-47B7-A66B-4E02B29B0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861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7E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review-step-1-label">
            <a:extLst xmlns:a="http://schemas.openxmlformats.org/drawingml/2006/main">
              <a:ext uri="{FF2B5EF4-FFF2-40B4-BE49-F238E27FC236}">
                <a16:creationId xmlns:a16="http://schemas.microsoft.com/office/drawing/2014/main" id="{710E6A24-0B9F-4C3B-B6E8-BB8494E2A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914650"/>
            <a:ext cx="647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defRPr>
            </a:pPr>
            <a:r>
              <a:rPr sz="1575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rPr>
              <a:t>Telegram sends the job to approved auditors</a:t>
            </a:r>
          </a:p>
        </p:txBody>
      </p:sp>
      <p:sp>
        <p:nvSpPr>
          <p:cNvPr id="9" name="review-step-1-detail">
            <a:extLst xmlns:a="http://schemas.openxmlformats.org/drawingml/2006/main">
              <a:ext uri="{FF2B5EF4-FFF2-40B4-BE49-F238E27FC236}">
                <a16:creationId xmlns:a16="http://schemas.microsoft.com/office/drawing/2014/main" id="{12C37DDA-41D9-4C72-8F86-1DC9114C8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257550"/>
            <a:ext cx="647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0B0AB"/>
                </a:solidFill>
                <a:latin typeface="Space Grotesk"/>
                <a:ea typeface="Space Grotesk"/>
                <a:cs typeface="Space Grotesk"/>
              </a:defRPr>
            </a:pPr>
            <a:r>
              <a:rPr sz="1125" b="0">
                <a:solidFill>
                  <a:srgbClr val="B0B0AB"/>
                </a:solidFill>
                <a:latin typeface="Space Grotesk"/>
                <a:ea typeface="Space Grotesk"/>
                <a:cs typeface="Space Grotesk"/>
              </a:rPr>
              <a:t>The first eligible claim wins.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5D756E-CAB1-47DF-B07F-FA9AA2B74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8145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37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review-step-2-label">
            <a:extLst xmlns:a="http://schemas.openxmlformats.org/drawingml/2006/main">
              <a:ext uri="{FF2B5EF4-FFF2-40B4-BE49-F238E27FC236}">
                <a16:creationId xmlns:a16="http://schemas.microsoft.com/office/drawing/2014/main" id="{6895FB20-7EE7-4D81-8DE1-2E522E986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10000"/>
            <a:ext cx="647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defRPr>
            </a:pPr>
            <a:r>
              <a:rPr sz="1575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rPr>
              <a:t>The auditor approves or rejects</a:t>
            </a:r>
          </a:p>
        </p:txBody>
      </p:sp>
      <p:sp>
        <p:nvSpPr>
          <p:cNvPr id="12" name="review-step-2-detail">
            <a:extLst xmlns:a="http://schemas.openxmlformats.org/drawingml/2006/main">
              <a:ext uri="{FF2B5EF4-FFF2-40B4-BE49-F238E27FC236}">
                <a16:creationId xmlns:a16="http://schemas.microsoft.com/office/drawing/2014/main" id="{6FE4AAED-8B5C-4CE2-9E89-E77B24B0C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52900"/>
            <a:ext cx="647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0B0AB"/>
                </a:solidFill>
                <a:latin typeface="Space Grotesk"/>
                <a:ea typeface="Space Grotesk"/>
                <a:cs typeface="Space Grotesk"/>
              </a:defRPr>
            </a:pPr>
            <a:r>
              <a:rPr sz="1125" b="0">
                <a:solidFill>
                  <a:srgbClr val="B0B0AB"/>
                </a:solidFill>
                <a:latin typeface="Space Grotesk"/>
                <a:ea typeface="Space Grotesk"/>
                <a:cs typeface="Space Grotesk"/>
              </a:rPr>
              <a:t>They must write a reason.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86A041-F8AA-45C1-BA5A-DED99CAFD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768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3FF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review-step-3-label">
            <a:extLst xmlns:a="http://schemas.openxmlformats.org/drawingml/2006/main">
              <a:ext uri="{FF2B5EF4-FFF2-40B4-BE49-F238E27FC236}">
                <a16:creationId xmlns:a16="http://schemas.microsoft.com/office/drawing/2014/main" id="{62FF97E7-557D-4287-8DB5-A0449DE60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705350"/>
            <a:ext cx="647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defRPr>
            </a:pPr>
            <a:r>
              <a:rPr sz="1575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rPr>
              <a:t>Circle Wallet pays the auditor</a:t>
            </a:r>
          </a:p>
        </p:txBody>
      </p:sp>
      <p:sp>
        <p:nvSpPr>
          <p:cNvPr id="15" name="review-step-3-detail">
            <a:extLst xmlns:a="http://schemas.openxmlformats.org/drawingml/2006/main">
              <a:ext uri="{FF2B5EF4-FFF2-40B4-BE49-F238E27FC236}">
                <a16:creationId xmlns:a16="http://schemas.microsoft.com/office/drawing/2014/main" id="{029AA003-A7BF-4F15-B9C8-52208B76C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48250"/>
            <a:ext cx="647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0B0AB"/>
                </a:solidFill>
                <a:latin typeface="Space Grotesk"/>
                <a:ea typeface="Space Grotesk"/>
                <a:cs typeface="Space Grotesk"/>
              </a:defRPr>
            </a:pPr>
            <a:r>
              <a:rPr sz="1125" b="0">
                <a:solidFill>
                  <a:srgbClr val="B0B0AB"/>
                </a:solidFill>
                <a:latin typeface="Space Grotesk"/>
                <a:ea typeface="Space Grotesk"/>
                <a:cs typeface="Space Grotesk"/>
              </a:rPr>
              <a:t>The service records the verdict and settles the escrow on Arc.</a:t>
            </a:r>
          </a:p>
        </p:txBody>
      </p:sp>
      <p:sp>
        <p:nvSpPr>
          <p:cNvPr id="16" name="telegram-panel">
            <a:extLst xmlns:a="http://schemas.openxmlformats.org/drawingml/2006/main">
              <a:ext uri="{FF2B5EF4-FFF2-40B4-BE49-F238E27FC236}">
                <a16:creationId xmlns:a16="http://schemas.microsoft.com/office/drawing/2014/main" id="{C73AD171-22BF-4C02-941F-0B520EE15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133600"/>
            <a:ext cx="285750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818"/>
          </a:solidFill>
          <a:ln xmlns:a="http://schemas.openxmlformats.org/drawingml/2006/main" w="9525">
            <a:solidFill>
              <a:srgbClr val="3B3B3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683F5C-D1B9-4C11-BB5C-653CD75C7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133600"/>
            <a:ext cx="2857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37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legram-title">
            <a:extLst xmlns:a="http://schemas.openxmlformats.org/drawingml/2006/main">
              <a:ext uri="{FF2B5EF4-FFF2-40B4-BE49-F238E27FC236}">
                <a16:creationId xmlns:a16="http://schemas.microsoft.com/office/drawing/2014/main" id="{9C59F283-2D53-4F48-8F28-04B60E25B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419350"/>
            <a:ext cx="2324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defRPr>
            </a:pPr>
            <a:r>
              <a:rPr sz="1725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rPr>
              <a:t>Review in Telegram</a:t>
            </a:r>
          </a:p>
        </p:txBody>
      </p:sp>
      <p:sp>
        <p:nvSpPr>
          <p:cNvPr id="19" name="telegram-copy">
            <a:extLst xmlns:a="http://schemas.openxmlformats.org/drawingml/2006/main">
              <a:ext uri="{FF2B5EF4-FFF2-40B4-BE49-F238E27FC236}">
                <a16:creationId xmlns:a16="http://schemas.microsoft.com/office/drawing/2014/main" id="{15083C19-4211-4FC9-A2E4-993BE5E86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819400"/>
            <a:ext cx="2324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0B0AB"/>
                </a:solidFill>
                <a:latin typeface="Space Grotesk"/>
                <a:ea typeface="Space Grotesk"/>
                <a:cs typeface="Space Grotesk"/>
              </a:defRPr>
            </a:pPr>
            <a:r>
              <a:rPr sz="1125" b="0">
                <a:solidFill>
                  <a:srgbClr val="B0B0AB"/>
                </a:solidFill>
                <a:latin typeface="Space Grotesk"/>
                <a:ea typeface="Space Grotesk"/>
                <a:cs typeface="Space Grotesk"/>
              </a:rPr>
              <a:t>Claim, decide, and reply with a reason.</a:t>
            </a:r>
          </a:p>
        </p:txBody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fe800d20364363"/>
          <a:stretch xmlns:a="http://schemas.openxmlformats.org/drawingml/2006/main"/>
        </p:blipFill>
        <p:spPr>
          <a:xfrm xmlns:a="http://schemas.openxmlformats.org/drawingml/2006/main">
            <a:off x="9163050" y="3505200"/>
            <a:ext cx="1714500" cy="1714500"/>
          </a:xfrm>
          <a:prstGeom xmlns:a="http://schemas.openxmlformats.org/drawingml/2006/main" prst="rect">
            <a:avLst/>
          </a:prstGeom>
        </p:spPr>
      </p:pic>
      <p:sp>
        <p:nvSpPr>
          <p:cNvPr id="21" name="reward-note">
            <a:extLst xmlns:a="http://schemas.openxmlformats.org/drawingml/2006/main">
              <a:ext uri="{FF2B5EF4-FFF2-40B4-BE49-F238E27FC236}">
                <a16:creationId xmlns:a16="http://schemas.microsoft.com/office/drawing/2014/main" id="{428880A0-7C4C-42E0-88BB-F7DC9254D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657850"/>
            <a:ext cx="628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C3FF3D"/>
                </a:solidFill>
                <a:latin typeface="Space Grotesk"/>
                <a:ea typeface="Space Grotesk"/>
                <a:cs typeface="Space Grotesk"/>
              </a:defRPr>
            </a:pPr>
            <a:r>
              <a:rPr sz="1275" b="0">
                <a:solidFill>
                  <a:srgbClr val="C3FF3D"/>
                </a:solidFill>
                <a:latin typeface="Space Grotesk"/>
                <a:ea typeface="Space Grotesk"/>
                <a:cs typeface="Space Grotesk"/>
              </a:rPr>
              <a:t>The reward is the same for approve and reject.</a:t>
            </a:r>
          </a:p>
        </p:txBody>
      </p:sp>
    </p:spTree>
    <p:extLst>
      <p:ext uri="{BB962C8B-B14F-4D97-AF65-F5344CB8AC3E}">
        <p14:creationId xmlns:p14="http://schemas.microsoft.com/office/powerpoint/2010/main" val="136558355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page-4">
            <a:extLst xmlns:a="http://schemas.openxmlformats.org/drawingml/2006/main">
              <a:ext uri="{FF2B5EF4-FFF2-40B4-BE49-F238E27FC236}">
                <a16:creationId xmlns:a16="http://schemas.microsoft.com/office/drawing/2014/main" id="{602DD566-6703-4E89-8D0E-21DAAE157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30480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94948E"/>
                </a:solidFill>
                <a:latin typeface="IBM Plex Mono"/>
                <a:ea typeface="IBM Plex Mono"/>
                <a:cs typeface="IBM Plex Mono"/>
              </a:defRPr>
            </a:pPr>
            <a:r>
              <a:rPr sz="975" b="0">
                <a:solidFill>
                  <a:srgbClr val="94948E"/>
                </a:solidFill>
                <a:latin typeface="IBM Plex Mono"/>
                <a:ea typeface="IBM Plex Mono"/>
                <a:cs typeface="IBM Plex Mono"/>
              </a:rPr>
              <a:t>04 / 05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B11475F-54B5-4D96-B1EE-3096A4441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0012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defRPr>
            </a:pPr>
            <a:r>
              <a:rPr sz="3150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rPr>
              <a:t>The router is live on Arc Testnet.</a:t>
            </a:r>
          </a:p>
        </p:txBody>
      </p:sp>
      <p:sp>
        <p:nvSpPr>
          <p:cNvPr id="3" name="router-label">
            <a:extLst xmlns:a="http://schemas.openxmlformats.org/drawingml/2006/main">
              <a:ext uri="{FF2B5EF4-FFF2-40B4-BE49-F238E27FC236}">
                <a16:creationId xmlns:a16="http://schemas.microsoft.com/office/drawing/2014/main" id="{BCBE6D21-1F08-46DC-80E7-EA240D915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defRPr>
            </a:pPr>
            <a:r>
              <a:rPr sz="1725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rPr>
              <a:t>EvaluationRouter v3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7B6331-BED0-4F1C-9BC5-31583E71B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908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3FF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verified-label">
            <a:extLst xmlns:a="http://schemas.openxmlformats.org/drawingml/2006/main">
              <a:ext uri="{FF2B5EF4-FFF2-40B4-BE49-F238E27FC236}">
                <a16:creationId xmlns:a16="http://schemas.microsoft.com/office/drawing/2014/main" id="{EE12E6FF-6F97-47C6-A143-572F130C1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3365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3FF3D"/>
                </a:solidFill>
                <a:latin typeface="Space Grotesk"/>
                <a:ea typeface="Space Grotesk"/>
                <a:cs typeface="Space Grotesk"/>
              </a:defRPr>
            </a:pPr>
            <a:r>
              <a:rPr sz="1200" b="0">
                <a:solidFill>
                  <a:srgbClr val="C3FF3D"/>
                </a:solidFill>
                <a:latin typeface="Space Grotesk"/>
                <a:ea typeface="Space Grotesk"/>
                <a:cs typeface="Space Grotesk"/>
              </a:rPr>
              <a:t>Source verified</a:t>
            </a:r>
          </a:p>
        </p:txBody>
      </p:sp>
      <p:sp>
        <p:nvSpPr>
          <p:cNvPr id="6" name="router-address">
            <a:extLst xmlns:a="http://schemas.openxmlformats.org/drawingml/2006/main">
              <a:ext uri="{FF2B5EF4-FFF2-40B4-BE49-F238E27FC236}">
                <a16:creationId xmlns:a16="http://schemas.microsoft.com/office/drawing/2014/main" id="{79484A3C-3854-43BF-B498-79A99BA6B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5429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0B0AB"/>
                </a:solidFill>
                <a:latin typeface="IBM Plex Mono"/>
                <a:ea typeface="IBM Plex Mono"/>
                <a:cs typeface="IBM Plex Mono"/>
              </a:defRPr>
            </a:pPr>
            <a:r>
              <a:rPr sz="1425" b="0">
                <a:solidFill>
                  <a:srgbClr val="B0B0AB"/>
                </a:solidFill>
                <a:latin typeface="IBM Plex Mono"/>
                <a:ea typeface="IBM Plex Mono"/>
                <a:cs typeface="IBM Plex Mono"/>
              </a:rPr>
              <a:t>0x44A51C365eB3eC703534ebb56394E7015930533D</a:t>
            </a:r>
          </a:p>
        </p:txBody>
      </p:sp>
      <p:sp>
        <p:nvSpPr>
          <p:cNvPr id="7" name="commerce-label">
            <a:extLst xmlns:a="http://schemas.openxmlformats.org/drawingml/2006/main">
              <a:ext uri="{FF2B5EF4-FFF2-40B4-BE49-F238E27FC236}">
                <a16:creationId xmlns:a16="http://schemas.microsoft.com/office/drawing/2014/main" id="{6CD546A5-38CD-4662-A799-5540627B9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defRPr>
            </a:pPr>
            <a:r>
              <a:rPr sz="1425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rPr>
              <a:t>AgenticCommerce</a:t>
            </a:r>
          </a:p>
        </p:txBody>
      </p:sp>
      <p:sp>
        <p:nvSpPr>
          <p:cNvPr id="8" name="commerce-address">
            <a:extLst xmlns:a="http://schemas.openxmlformats.org/drawingml/2006/main">
              <a:ext uri="{FF2B5EF4-FFF2-40B4-BE49-F238E27FC236}">
                <a16:creationId xmlns:a16="http://schemas.microsoft.com/office/drawing/2014/main" id="{4D6A6849-B77E-4006-A381-A0AC1E7B0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05300"/>
            <a:ext cx="5429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0B0AB"/>
                </a:solidFill>
                <a:latin typeface="IBM Plex Mono"/>
                <a:ea typeface="IBM Plex Mono"/>
                <a:cs typeface="IBM Plex Mono"/>
              </a:defRPr>
            </a:pPr>
            <a:r>
              <a:rPr sz="1425" b="0">
                <a:solidFill>
                  <a:srgbClr val="B0B0AB"/>
                </a:solidFill>
                <a:latin typeface="IBM Plex Mono"/>
                <a:ea typeface="IBM Plex Mono"/>
                <a:cs typeface="IBM Plex Mono"/>
              </a:rPr>
              <a:t>0x0747EEf0706327138c69792bF28Cd525089e4583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D7A77B-3FC0-4C29-83DA-5EB1EAE75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943100"/>
            <a:ext cx="9525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2B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jobs-label">
            <a:extLst xmlns:a="http://schemas.openxmlformats.org/drawingml/2006/main">
              <a:ext uri="{FF2B5EF4-FFF2-40B4-BE49-F238E27FC236}">
                <a16:creationId xmlns:a16="http://schemas.microsoft.com/office/drawing/2014/main" id="{D410CF31-BF3C-418F-BE1A-874946CBB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076450"/>
            <a:ext cx="3905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defRPr>
            </a:pPr>
            <a:r>
              <a:rPr sz="1725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rPr>
              <a:t>Test jobs on Arc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67105D-9481-44A6-A0F8-4273A3F26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867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3FF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job-0">
            <a:extLst xmlns:a="http://schemas.openxmlformats.org/drawingml/2006/main">
              <a:ext uri="{FF2B5EF4-FFF2-40B4-BE49-F238E27FC236}">
                <a16:creationId xmlns:a16="http://schemas.microsoft.com/office/drawing/2014/main" id="{B73CFA7F-112D-40B8-A5D3-4C63C6914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8003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AFAFA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 b="0">
                <a:solidFill>
                  <a:srgbClr val="FAFAFA"/>
                </a:solidFill>
                <a:latin typeface="IBM Plex Mono"/>
                <a:ea typeface="IBM Plex Mono"/>
                <a:cs typeface="IBM Plex Mono"/>
              </a:rPr>
              <a:t>#159668</a:t>
            </a:r>
          </a:p>
        </p:txBody>
      </p:sp>
      <p:sp>
        <p:nvSpPr>
          <p:cNvPr id="13" name="job-0-result">
            <a:extLst xmlns:a="http://schemas.openxmlformats.org/drawingml/2006/main">
              <a:ext uri="{FF2B5EF4-FFF2-40B4-BE49-F238E27FC236}">
                <a16:creationId xmlns:a16="http://schemas.microsoft.com/office/drawing/2014/main" id="{994C4EB9-DC75-4495-A4E3-A6F701116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80035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0B0AB"/>
                </a:solidFill>
                <a:latin typeface="Space Grotesk"/>
                <a:ea typeface="Space Grotesk"/>
                <a:cs typeface="Space Grotesk"/>
              </a:defRPr>
            </a:pPr>
            <a:r>
              <a:rPr sz="1275" b="0">
                <a:solidFill>
                  <a:srgbClr val="B0B0AB"/>
                </a:solidFill>
                <a:latin typeface="Space Grotesk"/>
                <a:ea typeface="Space Grotesk"/>
                <a:cs typeface="Space Grotesk"/>
              </a:rPr>
              <a:t>AI completed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B3BDBB-80F6-4398-B594-D5F9D8171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324225"/>
            <a:ext cx="4381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2B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E5112C-BA5A-4507-9F44-4B6DD61FD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629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job-1">
            <a:extLst xmlns:a="http://schemas.openxmlformats.org/drawingml/2006/main">
              <a:ext uri="{FF2B5EF4-FFF2-40B4-BE49-F238E27FC236}">
                <a16:creationId xmlns:a16="http://schemas.microsoft.com/office/drawing/2014/main" id="{2508C37B-E2A0-4E64-9E7F-34AA403FC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5623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AFAFA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 b="0">
                <a:solidFill>
                  <a:srgbClr val="FAFAFA"/>
                </a:solidFill>
                <a:latin typeface="IBM Plex Mono"/>
                <a:ea typeface="IBM Plex Mono"/>
                <a:cs typeface="IBM Plex Mono"/>
              </a:rPr>
              <a:t>#159669</a:t>
            </a:r>
          </a:p>
        </p:txBody>
      </p:sp>
      <p:sp>
        <p:nvSpPr>
          <p:cNvPr id="17" name="job-1-result">
            <a:extLst xmlns:a="http://schemas.openxmlformats.org/drawingml/2006/main">
              <a:ext uri="{FF2B5EF4-FFF2-40B4-BE49-F238E27FC236}">
                <a16:creationId xmlns:a16="http://schemas.microsoft.com/office/drawing/2014/main" id="{8FC0C10D-0476-4C3E-B009-F1AC99439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56235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0B0AB"/>
                </a:solidFill>
                <a:latin typeface="Space Grotesk"/>
                <a:ea typeface="Space Grotesk"/>
                <a:cs typeface="Space Grotesk"/>
              </a:defRPr>
            </a:pPr>
            <a:r>
              <a:rPr sz="1275" b="0">
                <a:solidFill>
                  <a:srgbClr val="B0B0AB"/>
                </a:solidFill>
                <a:latin typeface="Space Grotesk"/>
                <a:ea typeface="Space Grotesk"/>
                <a:cs typeface="Space Grotesk"/>
              </a:rPr>
              <a:t>Injection detected and escalated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7B2A9A-5A17-4E03-BEAB-BE859EB6B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086225"/>
            <a:ext cx="4381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2B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FB6C7B-4B39-484A-B5CA-0082B7677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391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37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job-2">
            <a:extLst xmlns:a="http://schemas.openxmlformats.org/drawingml/2006/main">
              <a:ext uri="{FF2B5EF4-FFF2-40B4-BE49-F238E27FC236}">
                <a16:creationId xmlns:a16="http://schemas.microsoft.com/office/drawing/2014/main" id="{1BEE5CC5-85D5-4E70-A501-512EF3AA4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3243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AFAFA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 b="0">
                <a:solidFill>
                  <a:srgbClr val="FAFAFA"/>
                </a:solidFill>
                <a:latin typeface="IBM Plex Mono"/>
                <a:ea typeface="IBM Plex Mono"/>
                <a:cs typeface="IBM Plex Mono"/>
              </a:rPr>
              <a:t>#159670</a:t>
            </a:r>
          </a:p>
        </p:txBody>
      </p:sp>
      <p:sp>
        <p:nvSpPr>
          <p:cNvPr id="21" name="job-2-result">
            <a:extLst xmlns:a="http://schemas.openxmlformats.org/drawingml/2006/main">
              <a:ext uri="{FF2B5EF4-FFF2-40B4-BE49-F238E27FC236}">
                <a16:creationId xmlns:a16="http://schemas.microsoft.com/office/drawing/2014/main" id="{411D8F28-81E3-4483-A1AA-2884FB5A9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32435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0B0AB"/>
                </a:solidFill>
                <a:latin typeface="Space Grotesk"/>
                <a:ea typeface="Space Grotesk"/>
                <a:cs typeface="Space Grotesk"/>
              </a:defRPr>
            </a:pPr>
            <a:r>
              <a:rPr sz="1275" b="0">
                <a:solidFill>
                  <a:srgbClr val="B0B0AB"/>
                </a:solidFill>
                <a:latin typeface="Space Grotesk"/>
                <a:ea typeface="Space Grotesk"/>
                <a:cs typeface="Space Grotesk"/>
              </a:rPr>
              <a:t>Human review selected and escalated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7ED6F7-1A5F-4EC0-B40F-AF0DDD06F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848225"/>
            <a:ext cx="4381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2B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test-strip">
            <a:extLst xmlns:a="http://schemas.openxmlformats.org/drawingml/2006/main">
              <a:ext uri="{FF2B5EF4-FFF2-40B4-BE49-F238E27FC236}">
                <a16:creationId xmlns:a16="http://schemas.microsoft.com/office/drawing/2014/main" id="{8BBD28C0-720A-42EF-BD0B-239F52266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820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1F1F"/>
          </a:solidFill>
          <a:ln xmlns:a="http://schemas.openxmlformats.org/drawingml/2006/main" w="9525">
            <a:solidFill>
              <a:srgbClr val="2B2B2B"/>
            </a:solidFill>
            <a:prstDash val="solid"/>
          </a:ln>
        </p:spPr>
      </p:sp>
      <p:sp>
        <p:nvSpPr>
          <p:cNvPr id="24" name="test-strip-copy">
            <a:extLst xmlns:a="http://schemas.openxmlformats.org/drawingml/2006/main">
              <a:ext uri="{FF2B5EF4-FFF2-40B4-BE49-F238E27FC236}">
                <a16:creationId xmlns:a16="http://schemas.microsoft.com/office/drawing/2014/main" id="{499BE5F5-DA18-4D62-A552-A072F988E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81650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B0B0AB"/>
                </a:solidFill>
                <a:latin typeface="Space Grotesk"/>
                <a:ea typeface="Space Grotesk"/>
                <a:cs typeface="Space Grotesk"/>
              </a:defRPr>
            </a:pPr>
            <a:r>
              <a:rPr sz="1350" b="0">
                <a:solidFill>
                  <a:srgbClr val="B0B0AB"/>
                </a:solidFill>
                <a:latin typeface="Space Grotesk"/>
                <a:ea typeface="Space Grotesk"/>
                <a:cs typeface="Space Grotesk"/>
              </a:rPr>
              <a:t>37 contract tests   ·   108 service tests   ·   14 browser tests</a:t>
            </a:r>
          </a:p>
        </p:txBody>
      </p:sp>
    </p:spTree>
    <p:extLst>
      <p:ext uri="{BB962C8B-B14F-4D97-AF65-F5344CB8AC3E}">
        <p14:creationId xmlns:p14="http://schemas.microsoft.com/office/powerpoint/2010/main" val="19657772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page-5">
            <a:extLst xmlns:a="http://schemas.openxmlformats.org/drawingml/2006/main">
              <a:ext uri="{FF2B5EF4-FFF2-40B4-BE49-F238E27FC236}">
                <a16:creationId xmlns:a16="http://schemas.microsoft.com/office/drawing/2014/main" id="{338276DC-25C3-443B-AAB2-4732436AC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30480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94948E"/>
                </a:solidFill>
                <a:latin typeface="IBM Plex Mono"/>
                <a:ea typeface="IBM Plex Mono"/>
                <a:cs typeface="IBM Plex Mono"/>
              </a:defRPr>
            </a:pPr>
            <a:r>
              <a:rPr sz="975" b="0">
                <a:solidFill>
                  <a:srgbClr val="94948E"/>
                </a:solidFill>
                <a:latin typeface="IBM Plex Mono"/>
                <a:ea typeface="IBM Plex Mono"/>
                <a:cs typeface="IBM Plex Mono"/>
              </a:rPr>
              <a:t>05 / 05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42FDA42-4698-4C0D-BED3-DD22CDFD7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0012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defRPr>
            </a:pPr>
            <a:r>
              <a:rPr sz="3150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rPr>
              <a:t>The next live run must reach payout and settlement.</a:t>
            </a:r>
          </a:p>
        </p:txBody>
      </p:sp>
      <p:sp>
        <p:nvSpPr>
          <p:cNvPr id="3" name="last-run-title">
            <a:extLst xmlns:a="http://schemas.openxmlformats.org/drawingml/2006/main">
              <a:ext uri="{FF2B5EF4-FFF2-40B4-BE49-F238E27FC236}">
                <a16:creationId xmlns:a16="http://schemas.microsoft.com/office/drawing/2014/main" id="{8D7C9013-04C4-494F-881F-AD3A7FE7C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defRPr>
            </a:pPr>
            <a:r>
              <a:rPr sz="1725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rPr>
              <a:t>Job 159917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E73B10-6F8F-4935-B96C-DB08B8CA5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09875"/>
            <a:ext cx="28575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3B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78EB3B-2CA3-4E1C-8F5E-1C23D4CF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24150"/>
            <a:ext cx="180975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3FF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last-run-0">
            <a:extLst xmlns:a="http://schemas.openxmlformats.org/drawingml/2006/main">
              <a:ext uri="{FF2B5EF4-FFF2-40B4-BE49-F238E27FC236}">
                <a16:creationId xmlns:a16="http://schemas.microsoft.com/office/drawing/2014/main" id="{9F99BB48-3701-4073-8460-128DE1ED8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86050"/>
            <a:ext cx="4667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defRPr>
            </a:pPr>
            <a:r>
              <a:rPr sz="1425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rPr>
              <a:t>Escrow created and funded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75F93E-7B59-4B32-86A9-542EEB036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09950"/>
            <a:ext cx="180975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3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last-run-1">
            <a:extLst xmlns:a="http://schemas.openxmlformats.org/drawingml/2006/main">
              <a:ext uri="{FF2B5EF4-FFF2-40B4-BE49-F238E27FC236}">
                <a16:creationId xmlns:a16="http://schemas.microsoft.com/office/drawing/2014/main" id="{60751870-F511-45A7-9B22-C51EE94A4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371850"/>
            <a:ext cx="4667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defRPr>
            </a:pPr>
            <a:r>
              <a:rPr sz="1425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rPr>
              <a:t>0.25 USDC x402 payment accepted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C67E52-6078-4E29-ABFA-8E8FFE813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95750"/>
            <a:ext cx="180975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37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last-run-2">
            <a:extLst xmlns:a="http://schemas.openxmlformats.org/drawingml/2006/main">
              <a:ext uri="{FF2B5EF4-FFF2-40B4-BE49-F238E27FC236}">
                <a16:creationId xmlns:a16="http://schemas.microsoft.com/office/drawing/2014/main" id="{A889D0A5-35D1-43F6-B5DC-3DA90DB08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57650"/>
            <a:ext cx="4667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0B0AB"/>
                </a:solidFill>
                <a:latin typeface="Space Grotesk"/>
                <a:ea typeface="Space Grotesk"/>
                <a:cs typeface="Space Grotesk"/>
              </a:defRPr>
            </a:pPr>
            <a:r>
              <a:rPr sz="1425" b="0">
                <a:solidFill>
                  <a:srgbClr val="B0B0AB"/>
                </a:solidFill>
                <a:latin typeface="Space Grotesk"/>
                <a:ea typeface="Space Grotesk"/>
                <a:cs typeface="Space Grotesk"/>
              </a:rPr>
              <a:t>Telegram review expired before a verdict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EF57ED-78BF-410F-91A8-66EC808C1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19300"/>
            <a:ext cx="9525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2B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next-run-title">
            <a:extLst xmlns:a="http://schemas.openxmlformats.org/drawingml/2006/main">
              <a:ext uri="{FF2B5EF4-FFF2-40B4-BE49-F238E27FC236}">
                <a16:creationId xmlns:a16="http://schemas.microsoft.com/office/drawing/2014/main" id="{EA75CA4D-BE2F-4C3A-9EB2-8D99EE395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1145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defRPr>
            </a:pPr>
            <a:r>
              <a:rPr sz="1725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rPr>
              <a:t>Next run</a:t>
            </a:r>
          </a:p>
        </p:txBody>
      </p:sp>
      <p:sp>
        <p:nvSpPr>
          <p:cNvPr id="13" name="next-run-number-0">
            <a:extLst xmlns:a="http://schemas.openxmlformats.org/drawingml/2006/main">
              <a:ext uri="{FF2B5EF4-FFF2-40B4-BE49-F238E27FC236}">
                <a16:creationId xmlns:a16="http://schemas.microsoft.com/office/drawing/2014/main" id="{847CD9EF-80EC-4031-9E2E-AB3C54112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62250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7300"/>
                </a:solidFill>
                <a:latin typeface="IBM Plex Mono"/>
                <a:ea typeface="IBM Plex Mono"/>
                <a:cs typeface="IBM Plex Mono"/>
              </a:defRPr>
            </a:pPr>
            <a:r>
              <a:rPr sz="1125" b="0">
                <a:solidFill>
                  <a:srgbClr val="FF7300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14" name="next-run-0">
            <a:extLst xmlns:a="http://schemas.openxmlformats.org/drawingml/2006/main">
              <a:ext uri="{FF2B5EF4-FFF2-40B4-BE49-F238E27FC236}">
                <a16:creationId xmlns:a16="http://schemas.microsoft.com/office/drawing/2014/main" id="{C614D4A3-23A2-4A41-85C3-BADEDD11D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7432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defRPr>
            </a:pPr>
            <a:r>
              <a:rPr sz="1425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rPr>
              <a:t>Reply with a reason in Telegram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124895-B9C7-4DE0-9A6D-A5D207FF7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124200"/>
            <a:ext cx="447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2B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next-run-number-1">
            <a:extLst xmlns:a="http://schemas.openxmlformats.org/drawingml/2006/main">
              <a:ext uri="{FF2B5EF4-FFF2-40B4-BE49-F238E27FC236}">
                <a16:creationId xmlns:a16="http://schemas.microsoft.com/office/drawing/2014/main" id="{D60A7B3C-9117-4CD4-B006-C09423397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352800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7300"/>
                </a:solidFill>
                <a:latin typeface="IBM Plex Mono"/>
                <a:ea typeface="IBM Plex Mono"/>
                <a:cs typeface="IBM Plex Mono"/>
              </a:defRPr>
            </a:pPr>
            <a:r>
              <a:rPr sz="1125" b="0">
                <a:solidFill>
                  <a:srgbClr val="FF7300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17" name="next-run-1">
            <a:extLst xmlns:a="http://schemas.openxmlformats.org/drawingml/2006/main">
              <a:ext uri="{FF2B5EF4-FFF2-40B4-BE49-F238E27FC236}">
                <a16:creationId xmlns:a16="http://schemas.microsoft.com/office/drawing/2014/main" id="{B32D45EE-DD3D-4574-9E8D-914FB3F75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3375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defRPr>
            </a:pPr>
            <a:r>
              <a:rPr sz="1425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rPr>
              <a:t>Confirm the 0.20 USDC payout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8493B8-CE8F-4DB6-A042-BD30AC15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714750"/>
            <a:ext cx="447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2B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next-run-number-2">
            <a:extLst xmlns:a="http://schemas.openxmlformats.org/drawingml/2006/main">
              <a:ext uri="{FF2B5EF4-FFF2-40B4-BE49-F238E27FC236}">
                <a16:creationId xmlns:a16="http://schemas.microsoft.com/office/drawing/2014/main" id="{56D3A5CE-565E-4E4C-B743-D6E717E6F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943350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7300"/>
                </a:solidFill>
                <a:latin typeface="IBM Plex Mono"/>
                <a:ea typeface="IBM Plex Mono"/>
                <a:cs typeface="IBM Plex Mono"/>
              </a:defRPr>
            </a:pPr>
            <a:r>
              <a:rPr sz="1125" b="0">
                <a:solidFill>
                  <a:srgbClr val="FF7300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20" name="next-run-2">
            <a:extLst xmlns:a="http://schemas.openxmlformats.org/drawingml/2006/main">
              <a:ext uri="{FF2B5EF4-FFF2-40B4-BE49-F238E27FC236}">
                <a16:creationId xmlns:a16="http://schemas.microsoft.com/office/drawing/2014/main" id="{C641E83F-1256-4A89-A310-FA8E4B7FF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9243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defRPr>
            </a:pPr>
            <a:r>
              <a:rPr sz="1425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rPr>
              <a:t>Confirm the escrow result on Arc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BE1EA2-0E1D-4BFA-BCDD-FE22C7573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305300"/>
            <a:ext cx="447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2B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next-run-number-3">
            <a:extLst xmlns:a="http://schemas.openxmlformats.org/drawingml/2006/main">
              <a:ext uri="{FF2B5EF4-FFF2-40B4-BE49-F238E27FC236}">
                <a16:creationId xmlns:a16="http://schemas.microsoft.com/office/drawing/2014/main" id="{03848EC7-149C-41CE-8A3A-8BECCB60C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533900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7300"/>
                </a:solidFill>
                <a:latin typeface="IBM Plex Mono"/>
                <a:ea typeface="IBM Plex Mono"/>
                <a:cs typeface="IBM Plex Mono"/>
              </a:defRPr>
            </a:pPr>
            <a:r>
              <a:rPr sz="1125" b="0">
                <a:solidFill>
                  <a:srgbClr val="FF7300"/>
                </a:solidFill>
                <a:latin typeface="IBM Plex Mono"/>
                <a:ea typeface="IBM Plex Mono"/>
                <a:cs typeface="IBM Plex Mono"/>
              </a:rPr>
              <a:t>04</a:t>
            </a:r>
          </a:p>
        </p:txBody>
      </p:sp>
      <p:sp>
        <p:nvSpPr>
          <p:cNvPr id="23" name="next-run-3">
            <a:extLst xmlns:a="http://schemas.openxmlformats.org/drawingml/2006/main">
              <a:ext uri="{FF2B5EF4-FFF2-40B4-BE49-F238E27FC236}">
                <a16:creationId xmlns:a16="http://schemas.microsoft.com/office/drawing/2014/main" id="{77677249-1DB9-4343-813F-B24C2648C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51485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defRPr>
            </a:pPr>
            <a:r>
              <a:rPr sz="1425" b="0">
                <a:solidFill>
                  <a:srgbClr val="FAFAFA"/>
                </a:solidFill>
                <a:latin typeface="Space Grotesk"/>
                <a:ea typeface="Space Grotesk"/>
                <a:cs typeface="Space Grotesk"/>
              </a:rPr>
              <a:t>Open the public run record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8D4AEF-0471-4EA9-8D4A-B71CC7483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895850"/>
            <a:ext cx="447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2B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repo-url">
            <a:extLst xmlns:a="http://schemas.openxmlformats.org/drawingml/2006/main">
              <a:ext uri="{FF2B5EF4-FFF2-40B4-BE49-F238E27FC236}">
                <a16:creationId xmlns:a16="http://schemas.microsoft.com/office/drawing/2014/main" id="{55CA6655-C031-4BEB-B773-A3943C29F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485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7EFFF"/>
                </a:solidFill>
                <a:latin typeface="IBM Plex Mono"/>
                <a:ea typeface="IBM Plex Mono"/>
                <a:cs typeface="IBM Plex Mono"/>
              </a:defRPr>
            </a:pPr>
            <a:r>
              <a:rPr sz="1200" b="0">
                <a:solidFill>
                  <a:srgbClr val="97EFFF"/>
                </a:solidFill>
                <a:latin typeface="IBM Plex Mono"/>
                <a:ea typeface="IBM Plex Mono"/>
                <a:cs typeface="IBM Plex Mono"/>
              </a:rPr>
              <a:t>github.com/vAPI-Network/vapi-arc</a:t>
            </a:r>
          </a:p>
        </p:txBody>
      </p:sp>
      <p:sp>
        <p:nvSpPr>
          <p:cNvPr id="26" name="app-url">
            <a:extLst xmlns:a="http://schemas.openxmlformats.org/drawingml/2006/main">
              <a:ext uri="{FF2B5EF4-FFF2-40B4-BE49-F238E27FC236}">
                <a16:creationId xmlns:a16="http://schemas.microsoft.com/office/drawing/2014/main" id="{7309031C-2071-467D-90A0-36AC28D61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429250"/>
            <a:ext cx="466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97EFFF"/>
                </a:solidFill>
                <a:latin typeface="IBM Plex Mono"/>
                <a:ea typeface="IBM Plex Mono"/>
                <a:cs typeface="IBM Plex Mono"/>
              </a:defRPr>
            </a:pPr>
            <a:r>
              <a:rPr sz="1200" b="0">
                <a:solidFill>
                  <a:srgbClr val="97EFFF"/>
                </a:solidFill>
                <a:latin typeface="IBM Plex Mono"/>
                <a:ea typeface="IBM Plex Mono"/>
                <a:cs typeface="IBM Plex Mono"/>
              </a:rPr>
              <a:t>vapi-web-production.up.railway.app</a:t>
            </a:r>
          </a:p>
        </p:txBody>
      </p:sp>
    </p:spTree>
    <p:extLst>
      <p:ext uri="{BB962C8B-B14F-4D97-AF65-F5344CB8AC3E}">
        <p14:creationId xmlns:p14="http://schemas.microsoft.com/office/powerpoint/2010/main" val="58255588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2026-08-02T11:42:43.1830000Z</dcterms:created>
  <dcterms:modified xsi:type="dcterms:W3CDTF">2026-08-02T11:42:43.1830000Z</dcterms:modified>
</coreProperties>
</file>